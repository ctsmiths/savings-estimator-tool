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126"/>
        </a:solidFill>
        <a:effectLst/>
      </p:bgPr>
    </p:bg>
    <p:spTree>
      <p:nvGrpSpPr>
        <p:cNvPr id="1" name=""/>
        <p:cNvGrpSpPr/>
        <p:nvPr/>
      </p:nvGrpSpPr>
      <p:grpSpPr/>
      <p:sp>
        <p:nvSpPr>
          <p:cNvPr id="2" name="TextBox 1"/>
          <p:cNvSpPr txBox="1"/>
          <p:nvPr/>
        </p:nvSpPr>
        <p:spPr>
          <a:xfrm>
            <a:off x="685800" y="1371600"/>
            <a:ext cx="5486400" cy="365760"/>
          </a:xfrm>
          <a:prstGeom prst="rect">
            <a:avLst/>
          </a:prstGeom>
          <a:noFill/>
        </p:spPr>
        <p:txBody>
          <a:bodyPr wrap="square" anchor="t" lIns="0" rIns="0" tIns="0" bIns="0">
            <a:spAutoFit/>
          </a:bodyPr>
          <a:lstStyle/>
          <a:p>
            <a:pPr algn="l">
              <a:spcAft>
                <a:spcPts val="600"/>
              </a:spcAft>
            </a:pPr>
            <a:r>
              <a:rPr sz="1500" b="1" i="0">
                <a:solidFill>
                  <a:srgbClr val="FFFFFF"/>
                </a:solidFill>
                <a:latin typeface="Arial"/>
              </a:rPr>
              <a:t>BELIMO</a:t>
            </a:r>
            <a:r>
              <a:rPr sz="1500" b="0" i="0">
                <a:solidFill>
                  <a:srgbClr val="636569"/>
                </a:solidFill>
                <a:latin typeface="Arial"/>
              </a:rPr>
              <a:t>   |   </a:t>
            </a:r>
            <a:r>
              <a:rPr sz="1200" b="1" i="0">
                <a:solidFill>
                  <a:srgbClr val="FFE0CC"/>
                </a:solidFill>
                <a:latin typeface="Arial"/>
              </a:rPr>
              <a:t>FIELD TRAINING</a:t>
            </a:r>
          </a:p>
        </p:txBody>
      </p:sp>
      <p:sp>
        <p:nvSpPr>
          <p:cNvPr id="3" name="TextBox 2"/>
          <p:cNvSpPr txBox="1"/>
          <p:nvPr/>
        </p:nvSpPr>
        <p:spPr>
          <a:xfrm>
            <a:off x="685800" y="2057400"/>
            <a:ext cx="9692640" cy="1005840"/>
          </a:xfrm>
          <a:prstGeom prst="rect">
            <a:avLst/>
          </a:prstGeom>
          <a:noFill/>
        </p:spPr>
        <p:txBody>
          <a:bodyPr wrap="square" anchor="t" lIns="0" rIns="0" tIns="0" bIns="0">
            <a:spAutoFit/>
          </a:bodyPr>
          <a:lstStyle/>
          <a:p>
            <a:pPr algn="l">
              <a:spcAft>
                <a:spcPts val="0"/>
              </a:spcAft>
            </a:pPr>
            <a:r>
              <a:rPr sz="5200" b="1" i="0">
                <a:solidFill>
                  <a:srgbClr val="FFFFFF"/>
                </a:solidFill>
                <a:latin typeface="Arial"/>
              </a:rPr>
              <a:t>Energy Valve</a:t>
            </a:r>
          </a:p>
        </p:txBody>
      </p:sp>
      <p:sp>
        <p:nvSpPr>
          <p:cNvPr id="4" name="TextBox 3"/>
          <p:cNvSpPr txBox="1"/>
          <p:nvPr/>
        </p:nvSpPr>
        <p:spPr>
          <a:xfrm>
            <a:off x="685800" y="2880360"/>
            <a:ext cx="9692640" cy="1005840"/>
          </a:xfrm>
          <a:prstGeom prst="rect">
            <a:avLst/>
          </a:prstGeom>
          <a:noFill/>
        </p:spPr>
        <p:txBody>
          <a:bodyPr wrap="square" anchor="t" lIns="0" rIns="0" tIns="0" bIns="0">
            <a:spAutoFit/>
          </a:bodyPr>
          <a:lstStyle/>
          <a:p>
            <a:pPr algn="l">
              <a:spcAft>
                <a:spcPts val="600"/>
              </a:spcAft>
            </a:pPr>
            <a:r>
              <a:rPr sz="5200" b="1" i="0">
                <a:solidFill>
                  <a:srgbClr val="FF6600"/>
                </a:solidFill>
                <a:latin typeface="Arial"/>
              </a:rPr>
              <a:t>Coil Estimator</a:t>
            </a:r>
          </a:p>
        </p:txBody>
      </p:sp>
      <p:sp>
        <p:nvSpPr>
          <p:cNvPr id="5" name="TextBox 4"/>
          <p:cNvSpPr txBox="1"/>
          <p:nvPr/>
        </p:nvSpPr>
        <p:spPr>
          <a:xfrm>
            <a:off x="685800" y="3977639"/>
            <a:ext cx="8412480" cy="1005840"/>
          </a:xfrm>
          <a:prstGeom prst="rect">
            <a:avLst/>
          </a:prstGeom>
          <a:noFill/>
        </p:spPr>
        <p:txBody>
          <a:bodyPr wrap="square" anchor="t" lIns="0" rIns="0" tIns="0" bIns="0">
            <a:spAutoFit/>
          </a:bodyPr>
          <a:lstStyle/>
          <a:p>
            <a:pPr algn="l">
              <a:lnSpc>
                <a:spcPct val="125000"/>
              </a:lnSpc>
              <a:spcAft>
                <a:spcPts val="600"/>
              </a:spcAft>
            </a:pPr>
            <a:r>
              <a:rPr sz="1700" b="0" i="0">
                <a:solidFill>
                  <a:srgbClr val="C4C7C9"/>
                </a:solidFill>
                <a:latin typeface="Arial"/>
              </a:rPr>
              <a:t>One coil, five steps, and a defensible pumping-savings number — plus what the financial results actually mean.</a:t>
            </a:r>
          </a:p>
        </p:txBody>
      </p:sp>
      <p:sp>
        <p:nvSpPr>
          <p:cNvPr id="6" name="Oval 5"/>
          <p:cNvSpPr/>
          <p:nvPr/>
        </p:nvSpPr>
        <p:spPr>
          <a:xfrm>
            <a:off x="685800" y="5349240"/>
            <a:ext cx="82296" cy="82296"/>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5230368"/>
            <a:ext cx="7772400" cy="320040"/>
          </a:xfrm>
          <a:prstGeom prst="rect">
            <a:avLst/>
          </a:prstGeom>
          <a:noFill/>
        </p:spPr>
        <p:txBody>
          <a:bodyPr wrap="square" anchor="t" lIns="0" rIns="0" tIns="0" bIns="0">
            <a:spAutoFit/>
          </a:bodyPr>
          <a:lstStyle/>
          <a:p>
            <a:pPr algn="l">
              <a:spcAft>
                <a:spcPts val="600"/>
              </a:spcAft>
            </a:pPr>
            <a:r>
              <a:rPr sz="1300" b="1" i="0">
                <a:solidFill>
                  <a:srgbClr val="FFFFFF"/>
                </a:solidFill>
                <a:latin typeface="Arial"/>
              </a:rPr>
              <a:t>Rick Smith</a:t>
            </a:r>
            <a:r>
              <a:rPr sz="1300" b="0" i="0">
                <a:solidFill>
                  <a:srgbClr val="636569"/>
                </a:solidFill>
                <a:latin typeface="Arial"/>
              </a:rPr>
              <a:t>  ·  Team Lead Regional Applications Consultant</a:t>
            </a:r>
          </a:p>
        </p:txBody>
      </p:sp>
      <p:sp>
        <p:nvSpPr>
          <p:cNvPr id="8" name="TextBox 7"/>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636569"/>
                </a:solidFill>
                <a:latin typeface="Arial"/>
              </a:rPr>
              <a:t>Belimo Americas  ·  Internal 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Why a coil runs at the wrong Delta-T</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And why that shows up on the electricity bill.</a:t>
            </a:r>
          </a:p>
        </p:txBody>
      </p:sp>
      <p:sp>
        <p:nvSpPr>
          <p:cNvPr id="4" name="TextBox 3"/>
          <p:cNvSpPr txBox="1"/>
          <p:nvPr/>
        </p:nvSpPr>
        <p:spPr>
          <a:xfrm>
            <a:off x="685800" y="1874519"/>
            <a:ext cx="5577840" cy="2377440"/>
          </a:xfrm>
          <a:prstGeom prst="rect">
            <a:avLst/>
          </a:prstGeom>
          <a:noFill/>
        </p:spPr>
        <p:txBody>
          <a:bodyPr wrap="square" anchor="t" lIns="0" rIns="0" tIns="0" bIns="0">
            <a:spAutoFit/>
          </a:bodyPr>
          <a:lstStyle/>
          <a:p>
            <a:pPr algn="l">
              <a:lnSpc>
                <a:spcPct val="130000"/>
              </a:lnSpc>
              <a:spcAft>
                <a:spcPts val="600"/>
              </a:spcAft>
            </a:pPr>
            <a:r>
              <a:rPr sz="1500" b="0" i="0">
                <a:solidFill>
                  <a:srgbClr val="636569"/>
                </a:solidFill>
                <a:latin typeface="Arial"/>
              </a:rPr>
              <a:t>A coil is selected for a design temperature rise. Most run below it — and to move the same heat at a lower Delta-T, the pump has to push </a:t>
            </a:r>
            <a:r>
              <a:rPr sz="1500" b="1" i="0">
                <a:solidFill>
                  <a:srgbClr val="636569"/>
                </a:solidFill>
                <a:latin typeface="Arial"/>
              </a:rPr>
              <a:t>more water</a:t>
            </a:r>
            <a:r>
              <a:rPr sz="1500" b="0" i="0">
                <a:solidFill>
                  <a:srgbClr val="636569"/>
                </a:solidFill>
                <a:latin typeface="Arial"/>
              </a:rPr>
              <a:t>.</a:t>
            </a:r>
          </a:p>
          <a:p>
            <a:pPr algn="l">
              <a:lnSpc>
                <a:spcPct val="130000"/>
              </a:lnSpc>
              <a:spcAft>
                <a:spcPts val="600"/>
              </a:spcAft>
            </a:pPr>
          </a:p>
          <a:p>
            <a:pPr algn="l">
              <a:lnSpc>
                <a:spcPct val="130000"/>
              </a:lnSpc>
              <a:spcAft>
                <a:spcPts val="600"/>
              </a:spcAft>
            </a:pPr>
            <a:r>
              <a:rPr sz="1500" b="0" i="0">
                <a:solidFill>
                  <a:srgbClr val="636569"/>
                </a:solidFill>
                <a:latin typeface="Arial"/>
              </a:rPr>
              <a:t>That is the whole opportunity. An Energy Valve holds the Delta-T you ask for, so the flow comes down — and pump power falls much faster than flow does.</a:t>
            </a:r>
          </a:p>
        </p:txBody>
      </p:sp>
      <p:sp>
        <p:nvSpPr>
          <p:cNvPr id="5" name="Rounded Rectangle 4"/>
          <p:cNvSpPr/>
          <p:nvPr/>
        </p:nvSpPr>
        <p:spPr>
          <a:xfrm>
            <a:off x="6583680" y="1783080"/>
            <a:ext cx="4937760" cy="2468880"/>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903720" y="2057400"/>
            <a:ext cx="4297680" cy="365760"/>
          </a:xfrm>
          <a:prstGeom prst="rect">
            <a:avLst/>
          </a:prstGeom>
          <a:noFill/>
        </p:spPr>
        <p:txBody>
          <a:bodyPr wrap="square" anchor="t" lIns="0" rIns="0" tIns="0" bIns="0">
            <a:spAutoFit/>
          </a:bodyPr>
          <a:lstStyle/>
          <a:p>
            <a:pPr algn="l">
              <a:spcAft>
                <a:spcPts val="600"/>
              </a:spcAft>
            </a:pPr>
            <a:r>
              <a:rPr sz="1100" b="1" i="0">
                <a:solidFill>
                  <a:srgbClr val="FF6600"/>
                </a:solidFill>
                <a:latin typeface="Arial"/>
              </a:rPr>
              <a:t>THE CUBE LAW</a:t>
            </a:r>
          </a:p>
        </p:txBody>
      </p:sp>
      <p:sp>
        <p:nvSpPr>
          <p:cNvPr id="7" name="TextBox 6"/>
          <p:cNvSpPr txBox="1"/>
          <p:nvPr/>
        </p:nvSpPr>
        <p:spPr>
          <a:xfrm>
            <a:off x="6903720" y="2487168"/>
            <a:ext cx="4297680" cy="685800"/>
          </a:xfrm>
          <a:prstGeom prst="rect">
            <a:avLst/>
          </a:prstGeom>
          <a:noFill/>
        </p:spPr>
        <p:txBody>
          <a:bodyPr wrap="square" anchor="t" lIns="0" rIns="0" tIns="0" bIns="0">
            <a:spAutoFit/>
          </a:bodyPr>
          <a:lstStyle/>
          <a:p>
            <a:pPr algn="l">
              <a:spcAft>
                <a:spcPts val="600"/>
              </a:spcAft>
            </a:pPr>
            <a:r>
              <a:rPr sz="2600" b="1" i="0">
                <a:solidFill>
                  <a:srgbClr val="1B2126"/>
                </a:solidFill>
                <a:latin typeface="Arial"/>
              </a:rPr>
              <a:t>Cut flow by a third</a:t>
            </a:r>
          </a:p>
        </p:txBody>
      </p:sp>
      <p:sp>
        <p:nvSpPr>
          <p:cNvPr id="8" name="TextBox 7"/>
          <p:cNvSpPr txBox="1"/>
          <p:nvPr/>
        </p:nvSpPr>
        <p:spPr>
          <a:xfrm>
            <a:off x="6903720" y="3200400"/>
            <a:ext cx="4297680" cy="502920"/>
          </a:xfrm>
          <a:prstGeom prst="rect">
            <a:avLst/>
          </a:prstGeom>
          <a:noFill/>
        </p:spPr>
        <p:txBody>
          <a:bodyPr wrap="square" anchor="t" lIns="0" rIns="0" tIns="0" bIns="0">
            <a:spAutoFit/>
          </a:bodyPr>
          <a:lstStyle/>
          <a:p>
            <a:pPr algn="l">
              <a:spcAft>
                <a:spcPts val="600"/>
              </a:spcAft>
            </a:pPr>
            <a:r>
              <a:rPr sz="2000" b="1" i="0">
                <a:solidFill>
                  <a:srgbClr val="FF6600"/>
                </a:solidFill>
                <a:latin typeface="Arial"/>
              </a:rPr>
              <a:t>→  pump power falls ~70%</a:t>
            </a:r>
          </a:p>
        </p:txBody>
      </p:sp>
      <p:sp>
        <p:nvSpPr>
          <p:cNvPr id="9" name="TextBox 8"/>
          <p:cNvSpPr txBox="1"/>
          <p:nvPr/>
        </p:nvSpPr>
        <p:spPr>
          <a:xfrm>
            <a:off x="6903720" y="3730752"/>
            <a:ext cx="4297680" cy="411480"/>
          </a:xfrm>
          <a:prstGeom prst="rect">
            <a:avLst/>
          </a:prstGeom>
          <a:noFill/>
        </p:spPr>
        <p:txBody>
          <a:bodyPr wrap="square" anchor="t" lIns="0" rIns="0" tIns="0" bIns="0">
            <a:spAutoFit/>
          </a:bodyPr>
          <a:lstStyle/>
          <a:p>
            <a:pPr algn="l">
              <a:spcAft>
                <a:spcPts val="600"/>
              </a:spcAft>
            </a:pPr>
            <a:r>
              <a:rPr sz="1250" b="0" i="0">
                <a:solidFill>
                  <a:srgbClr val="636569"/>
                </a:solidFill>
                <a:latin typeface="Arial"/>
              </a:rPr>
              <a:t>Pump power varies with roughly the cube of flow.</a:t>
            </a:r>
          </a:p>
        </p:txBody>
      </p:sp>
      <p:sp>
        <p:nvSpPr>
          <p:cNvPr id="10" name="Rounded Rectangle 9"/>
          <p:cNvSpPr/>
          <p:nvPr/>
        </p:nvSpPr>
        <p:spPr>
          <a:xfrm>
            <a:off x="685800" y="4572000"/>
            <a:ext cx="10817352" cy="1143000"/>
          </a:xfrm>
          <a:prstGeom prst="roundRect">
            <a:avLst>
              <a:gd name="adj" fmla="val 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4800600"/>
            <a:ext cx="10195560" cy="731520"/>
          </a:xfrm>
          <a:prstGeom prst="rect">
            <a:avLst/>
          </a:prstGeom>
          <a:noFill/>
        </p:spPr>
        <p:txBody>
          <a:bodyPr wrap="square" anchor="t" lIns="0" rIns="0" tIns="0" bIns="0">
            <a:spAutoFit/>
          </a:bodyPr>
          <a:lstStyle/>
          <a:p>
            <a:pPr algn="l">
              <a:lnSpc>
                <a:spcPct val="125000"/>
              </a:lnSpc>
              <a:spcAft>
                <a:spcPts val="600"/>
              </a:spcAft>
            </a:pPr>
            <a:r>
              <a:rPr sz="1500" b="1" i="0">
                <a:solidFill>
                  <a:srgbClr val="1B2126"/>
                </a:solidFill>
                <a:latin typeface="Arial"/>
              </a:rPr>
              <a:t>This tool counts pumping savings only.</a:t>
            </a:r>
            <a:r>
              <a:rPr sz="1500" b="0" i="0">
                <a:solidFill>
                  <a:srgbClr val="636569"/>
                </a:solidFill>
                <a:latin typeface="Arial"/>
              </a:rPr>
              <a:t>  Its companion, the Savings Estimator, models a whole plant and adds the chiller side. Coil conversation → this tool. Central plant → that one.</a:t>
            </a:r>
          </a:p>
        </p:txBody>
      </p:sp>
      <p:sp>
        <p:nvSpPr>
          <p:cNvPr id="12" name="TextBox 11"/>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Five tabs, one of which you fill in</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The rest calculate or present.</a:t>
            </a:r>
          </a:p>
        </p:txBody>
      </p:sp>
      <p:sp>
        <p:nvSpPr>
          <p:cNvPr id="4" name="Rounded Rectangle 3"/>
          <p:cNvSpPr/>
          <p:nvPr/>
        </p:nvSpPr>
        <p:spPr>
          <a:xfrm>
            <a:off x="685800" y="2148840"/>
            <a:ext cx="2002536" cy="1874519"/>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50392" y="2340864"/>
            <a:ext cx="402336" cy="402336"/>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6" name="TextBox 5"/>
          <p:cNvSpPr txBox="1"/>
          <p:nvPr/>
        </p:nvSpPr>
        <p:spPr>
          <a:xfrm>
            <a:off x="850392" y="2907792"/>
            <a:ext cx="1673352" cy="320040"/>
          </a:xfrm>
          <a:prstGeom prst="rect">
            <a:avLst/>
          </a:prstGeom>
          <a:noFill/>
        </p:spPr>
        <p:txBody>
          <a:bodyPr wrap="square" anchor="t" lIns="0" rIns="0" tIns="0" bIns="0">
            <a:spAutoFit/>
          </a:bodyPr>
          <a:lstStyle/>
          <a:p>
            <a:pPr algn="l">
              <a:spcAft>
                <a:spcPts val="600"/>
              </a:spcAft>
            </a:pPr>
            <a:r>
              <a:rPr sz="1500" b="1" i="0">
                <a:solidFill>
                  <a:srgbClr val="1B2126"/>
                </a:solidFill>
                <a:latin typeface="Arial"/>
              </a:rPr>
              <a:t>Home</a:t>
            </a:r>
          </a:p>
        </p:txBody>
      </p:sp>
      <p:sp>
        <p:nvSpPr>
          <p:cNvPr id="7" name="TextBox 6"/>
          <p:cNvSpPr txBox="1"/>
          <p:nvPr/>
        </p:nvSpPr>
        <p:spPr>
          <a:xfrm>
            <a:off x="850392" y="3246120"/>
            <a:ext cx="1673352" cy="640080"/>
          </a:xfrm>
          <a:prstGeom prst="rect">
            <a:avLst/>
          </a:prstGeom>
          <a:noFill/>
        </p:spPr>
        <p:txBody>
          <a:bodyPr wrap="square" anchor="t" lIns="0" rIns="0" tIns="0" bIns="0">
            <a:spAutoFit/>
          </a:bodyPr>
          <a:lstStyle/>
          <a:p>
            <a:pPr algn="l">
              <a:lnSpc>
                <a:spcPct val="115000"/>
              </a:lnSpc>
              <a:spcAft>
                <a:spcPts val="600"/>
              </a:spcAft>
            </a:pPr>
            <a:r>
              <a:rPr sz="1150" b="0" i="0">
                <a:solidFill>
                  <a:srgbClr val="636569"/>
                </a:solidFill>
                <a:latin typeface="Arial"/>
              </a:rPr>
              <a:t>Everything you type — 5 steps</a:t>
            </a:r>
          </a:p>
        </p:txBody>
      </p:sp>
      <p:sp>
        <p:nvSpPr>
          <p:cNvPr id="8" name="TextBox 7"/>
          <p:cNvSpPr txBox="1"/>
          <p:nvPr/>
        </p:nvSpPr>
        <p:spPr>
          <a:xfrm>
            <a:off x="2724912" y="2880360"/>
            <a:ext cx="164592" cy="274320"/>
          </a:xfrm>
          <a:prstGeom prst="rect">
            <a:avLst/>
          </a:prstGeom>
          <a:noFill/>
        </p:spPr>
        <p:txBody>
          <a:bodyPr wrap="square" anchor="t" lIns="0" rIns="0" tIns="0" bIns="0">
            <a:spAutoFit/>
          </a:bodyPr>
          <a:lstStyle/>
          <a:p>
            <a:pPr algn="ctr">
              <a:spcAft>
                <a:spcPts val="600"/>
              </a:spcAft>
            </a:pPr>
            <a:r>
              <a:rPr sz="1700" b="0" i="0">
                <a:solidFill>
                  <a:srgbClr val="C4C7C9"/>
                </a:solidFill>
                <a:latin typeface="Arial"/>
              </a:rPr>
              <a:t>›</a:t>
            </a:r>
          </a:p>
        </p:txBody>
      </p:sp>
      <p:sp>
        <p:nvSpPr>
          <p:cNvPr id="9" name="Rounded Rectangle 8"/>
          <p:cNvSpPr/>
          <p:nvPr/>
        </p:nvSpPr>
        <p:spPr>
          <a:xfrm>
            <a:off x="2889504" y="2148840"/>
            <a:ext cx="2002536" cy="1874519"/>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054096" y="2340864"/>
            <a:ext cx="402336" cy="402336"/>
          </a:xfrm>
          <a:prstGeom prst="ellipse">
            <a:avLst/>
          </a:prstGeom>
          <a:solidFill>
            <a:srgbClr val="C4C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B2126"/>
                </a:solidFill>
                <a:latin typeface="Arial"/>
              </a:rPr>
              <a:t>2</a:t>
            </a:r>
          </a:p>
        </p:txBody>
      </p:sp>
      <p:sp>
        <p:nvSpPr>
          <p:cNvPr id="11" name="TextBox 10"/>
          <p:cNvSpPr txBox="1"/>
          <p:nvPr/>
        </p:nvSpPr>
        <p:spPr>
          <a:xfrm>
            <a:off x="3054096" y="2907792"/>
            <a:ext cx="1673352" cy="320040"/>
          </a:xfrm>
          <a:prstGeom prst="rect">
            <a:avLst/>
          </a:prstGeom>
          <a:noFill/>
        </p:spPr>
        <p:txBody>
          <a:bodyPr wrap="square" anchor="t" lIns="0" rIns="0" tIns="0" bIns="0">
            <a:spAutoFit/>
          </a:bodyPr>
          <a:lstStyle/>
          <a:p>
            <a:pPr algn="l">
              <a:spcAft>
                <a:spcPts val="600"/>
              </a:spcAft>
            </a:pPr>
            <a:r>
              <a:rPr sz="1500" b="1" i="0">
                <a:solidFill>
                  <a:srgbClr val="1B2126"/>
                </a:solidFill>
                <a:latin typeface="Arial"/>
              </a:rPr>
              <a:t>Pump Savings</a:t>
            </a:r>
          </a:p>
        </p:txBody>
      </p:sp>
      <p:sp>
        <p:nvSpPr>
          <p:cNvPr id="12" name="TextBox 11"/>
          <p:cNvSpPr txBox="1"/>
          <p:nvPr/>
        </p:nvSpPr>
        <p:spPr>
          <a:xfrm>
            <a:off x="3054096" y="3246120"/>
            <a:ext cx="1673352" cy="640080"/>
          </a:xfrm>
          <a:prstGeom prst="rect">
            <a:avLst/>
          </a:prstGeom>
          <a:noFill/>
        </p:spPr>
        <p:txBody>
          <a:bodyPr wrap="square" anchor="t" lIns="0" rIns="0" tIns="0" bIns="0">
            <a:spAutoFit/>
          </a:bodyPr>
          <a:lstStyle/>
          <a:p>
            <a:pPr algn="l">
              <a:lnSpc>
                <a:spcPct val="115000"/>
              </a:lnSpc>
              <a:spcAft>
                <a:spcPts val="600"/>
              </a:spcAft>
            </a:pPr>
            <a:r>
              <a:rPr sz="1150" b="0" i="0">
                <a:solidFill>
                  <a:srgbClr val="636569"/>
                </a:solidFill>
                <a:latin typeface="Arial"/>
              </a:rPr>
              <a:t>The calculation engine</a:t>
            </a:r>
          </a:p>
        </p:txBody>
      </p:sp>
      <p:sp>
        <p:nvSpPr>
          <p:cNvPr id="13" name="TextBox 12"/>
          <p:cNvSpPr txBox="1"/>
          <p:nvPr/>
        </p:nvSpPr>
        <p:spPr>
          <a:xfrm>
            <a:off x="4928616" y="2880360"/>
            <a:ext cx="164592" cy="274320"/>
          </a:xfrm>
          <a:prstGeom prst="rect">
            <a:avLst/>
          </a:prstGeom>
          <a:noFill/>
        </p:spPr>
        <p:txBody>
          <a:bodyPr wrap="square" anchor="t" lIns="0" rIns="0" tIns="0" bIns="0">
            <a:spAutoFit/>
          </a:bodyPr>
          <a:lstStyle/>
          <a:p>
            <a:pPr algn="ctr">
              <a:spcAft>
                <a:spcPts val="600"/>
              </a:spcAft>
            </a:pPr>
            <a:r>
              <a:rPr sz="1700" b="0" i="0">
                <a:solidFill>
                  <a:srgbClr val="C4C7C9"/>
                </a:solidFill>
                <a:latin typeface="Arial"/>
              </a:rPr>
              <a:t>›</a:t>
            </a:r>
          </a:p>
        </p:txBody>
      </p:sp>
      <p:sp>
        <p:nvSpPr>
          <p:cNvPr id="14" name="Rounded Rectangle 13"/>
          <p:cNvSpPr/>
          <p:nvPr/>
        </p:nvSpPr>
        <p:spPr>
          <a:xfrm>
            <a:off x="5093208" y="2148840"/>
            <a:ext cx="2002536" cy="1874519"/>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5257800" y="2340864"/>
            <a:ext cx="402336" cy="402336"/>
          </a:xfrm>
          <a:prstGeom prst="ellipse">
            <a:avLst/>
          </a:prstGeom>
          <a:solidFill>
            <a:srgbClr val="C4C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B2126"/>
                </a:solidFill>
                <a:latin typeface="Arial"/>
              </a:rPr>
              <a:t>3</a:t>
            </a:r>
          </a:p>
        </p:txBody>
      </p:sp>
      <p:sp>
        <p:nvSpPr>
          <p:cNvPr id="16" name="TextBox 15"/>
          <p:cNvSpPr txBox="1"/>
          <p:nvPr/>
        </p:nvSpPr>
        <p:spPr>
          <a:xfrm>
            <a:off x="5257800" y="2907792"/>
            <a:ext cx="1673352" cy="320040"/>
          </a:xfrm>
          <a:prstGeom prst="rect">
            <a:avLst/>
          </a:prstGeom>
          <a:noFill/>
        </p:spPr>
        <p:txBody>
          <a:bodyPr wrap="square" anchor="t" lIns="0" rIns="0" tIns="0" bIns="0">
            <a:spAutoFit/>
          </a:bodyPr>
          <a:lstStyle/>
          <a:p>
            <a:pPr algn="l">
              <a:spcAft>
                <a:spcPts val="600"/>
              </a:spcAft>
            </a:pPr>
            <a:r>
              <a:rPr sz="1500" b="1" i="0">
                <a:solidFill>
                  <a:srgbClr val="1B2126"/>
                </a:solidFill>
                <a:latin typeface="Arial"/>
              </a:rPr>
              <a:t>Flow Curves</a:t>
            </a:r>
          </a:p>
        </p:txBody>
      </p:sp>
      <p:sp>
        <p:nvSpPr>
          <p:cNvPr id="17" name="TextBox 16"/>
          <p:cNvSpPr txBox="1"/>
          <p:nvPr/>
        </p:nvSpPr>
        <p:spPr>
          <a:xfrm>
            <a:off x="5257800" y="3246120"/>
            <a:ext cx="1673352" cy="640080"/>
          </a:xfrm>
          <a:prstGeom prst="rect">
            <a:avLst/>
          </a:prstGeom>
          <a:noFill/>
        </p:spPr>
        <p:txBody>
          <a:bodyPr wrap="square" anchor="t" lIns="0" rIns="0" tIns="0" bIns="0">
            <a:spAutoFit/>
          </a:bodyPr>
          <a:lstStyle/>
          <a:p>
            <a:pPr algn="l">
              <a:lnSpc>
                <a:spcPct val="115000"/>
              </a:lnSpc>
              <a:spcAft>
                <a:spcPts val="600"/>
              </a:spcAft>
            </a:pPr>
            <a:r>
              <a:rPr sz="1150" b="0" i="0">
                <a:solidFill>
                  <a:srgbClr val="636569"/>
                </a:solidFill>
                <a:latin typeface="Arial"/>
              </a:rPr>
              <a:t>Reference curves</a:t>
            </a:r>
          </a:p>
        </p:txBody>
      </p:sp>
      <p:sp>
        <p:nvSpPr>
          <p:cNvPr id="18" name="TextBox 17"/>
          <p:cNvSpPr txBox="1"/>
          <p:nvPr/>
        </p:nvSpPr>
        <p:spPr>
          <a:xfrm>
            <a:off x="7132320" y="2880360"/>
            <a:ext cx="164592" cy="274320"/>
          </a:xfrm>
          <a:prstGeom prst="rect">
            <a:avLst/>
          </a:prstGeom>
          <a:noFill/>
        </p:spPr>
        <p:txBody>
          <a:bodyPr wrap="square" anchor="t" lIns="0" rIns="0" tIns="0" bIns="0">
            <a:spAutoFit/>
          </a:bodyPr>
          <a:lstStyle/>
          <a:p>
            <a:pPr algn="ctr">
              <a:spcAft>
                <a:spcPts val="600"/>
              </a:spcAft>
            </a:pPr>
            <a:r>
              <a:rPr sz="1700" b="0" i="0">
                <a:solidFill>
                  <a:srgbClr val="C4C7C9"/>
                </a:solidFill>
                <a:latin typeface="Arial"/>
              </a:rPr>
              <a:t>›</a:t>
            </a:r>
          </a:p>
        </p:txBody>
      </p:sp>
      <p:sp>
        <p:nvSpPr>
          <p:cNvPr id="19" name="Rounded Rectangle 18"/>
          <p:cNvSpPr/>
          <p:nvPr/>
        </p:nvSpPr>
        <p:spPr>
          <a:xfrm>
            <a:off x="7296912" y="2148840"/>
            <a:ext cx="2002536" cy="1874519"/>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461504" y="2340864"/>
            <a:ext cx="402336" cy="402336"/>
          </a:xfrm>
          <a:prstGeom prst="ellipse">
            <a:avLst/>
          </a:prstGeom>
          <a:solidFill>
            <a:srgbClr val="C4C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B2126"/>
                </a:solidFill>
                <a:latin typeface="Arial"/>
              </a:rPr>
              <a:t>4</a:t>
            </a:r>
          </a:p>
        </p:txBody>
      </p:sp>
      <p:sp>
        <p:nvSpPr>
          <p:cNvPr id="21" name="TextBox 20"/>
          <p:cNvSpPr txBox="1"/>
          <p:nvPr/>
        </p:nvSpPr>
        <p:spPr>
          <a:xfrm>
            <a:off x="7461504" y="2907792"/>
            <a:ext cx="1673352" cy="320040"/>
          </a:xfrm>
          <a:prstGeom prst="rect">
            <a:avLst/>
          </a:prstGeom>
          <a:noFill/>
        </p:spPr>
        <p:txBody>
          <a:bodyPr wrap="square" anchor="t" lIns="0" rIns="0" tIns="0" bIns="0">
            <a:spAutoFit/>
          </a:bodyPr>
          <a:lstStyle/>
          <a:p>
            <a:pPr algn="l">
              <a:spcAft>
                <a:spcPts val="600"/>
              </a:spcAft>
            </a:pPr>
            <a:r>
              <a:rPr sz="1500" b="1" i="0">
                <a:solidFill>
                  <a:srgbClr val="1B2126"/>
                </a:solidFill>
                <a:latin typeface="Arial"/>
              </a:rPr>
              <a:t>Charts</a:t>
            </a:r>
          </a:p>
        </p:txBody>
      </p:sp>
      <p:sp>
        <p:nvSpPr>
          <p:cNvPr id="22" name="TextBox 21"/>
          <p:cNvSpPr txBox="1"/>
          <p:nvPr/>
        </p:nvSpPr>
        <p:spPr>
          <a:xfrm>
            <a:off x="7461504" y="3246120"/>
            <a:ext cx="1673352" cy="640080"/>
          </a:xfrm>
          <a:prstGeom prst="rect">
            <a:avLst/>
          </a:prstGeom>
          <a:noFill/>
        </p:spPr>
        <p:txBody>
          <a:bodyPr wrap="square" anchor="t" lIns="0" rIns="0" tIns="0" bIns="0">
            <a:spAutoFit/>
          </a:bodyPr>
          <a:lstStyle/>
          <a:p>
            <a:pPr algn="l">
              <a:lnSpc>
                <a:spcPct val="115000"/>
              </a:lnSpc>
              <a:spcAft>
                <a:spcPts val="600"/>
              </a:spcAft>
            </a:pPr>
            <a:r>
              <a:rPr sz="1150" b="0" i="0">
                <a:solidFill>
                  <a:srgbClr val="636569"/>
                </a:solidFill>
                <a:latin typeface="Arial"/>
              </a:rPr>
              <a:t>The same, plotted</a:t>
            </a:r>
          </a:p>
        </p:txBody>
      </p:sp>
      <p:sp>
        <p:nvSpPr>
          <p:cNvPr id="23" name="TextBox 22"/>
          <p:cNvSpPr txBox="1"/>
          <p:nvPr/>
        </p:nvSpPr>
        <p:spPr>
          <a:xfrm>
            <a:off x="9336024" y="2880360"/>
            <a:ext cx="164592" cy="274320"/>
          </a:xfrm>
          <a:prstGeom prst="rect">
            <a:avLst/>
          </a:prstGeom>
          <a:noFill/>
        </p:spPr>
        <p:txBody>
          <a:bodyPr wrap="square" anchor="t" lIns="0" rIns="0" tIns="0" bIns="0">
            <a:spAutoFit/>
          </a:bodyPr>
          <a:lstStyle/>
          <a:p>
            <a:pPr algn="ctr">
              <a:spcAft>
                <a:spcPts val="600"/>
              </a:spcAft>
            </a:pPr>
            <a:r>
              <a:rPr sz="1700" b="0" i="0">
                <a:solidFill>
                  <a:srgbClr val="C4C7C9"/>
                </a:solidFill>
                <a:latin typeface="Arial"/>
              </a:rPr>
              <a:t>›</a:t>
            </a:r>
          </a:p>
        </p:txBody>
      </p:sp>
      <p:sp>
        <p:nvSpPr>
          <p:cNvPr id="24" name="Rounded Rectangle 23"/>
          <p:cNvSpPr/>
          <p:nvPr/>
        </p:nvSpPr>
        <p:spPr>
          <a:xfrm>
            <a:off x="9500616" y="2148840"/>
            <a:ext cx="2002536" cy="1874519"/>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9665208" y="2340864"/>
            <a:ext cx="402336" cy="402336"/>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5</a:t>
            </a:r>
          </a:p>
        </p:txBody>
      </p:sp>
      <p:sp>
        <p:nvSpPr>
          <p:cNvPr id="26" name="TextBox 25"/>
          <p:cNvSpPr txBox="1"/>
          <p:nvPr/>
        </p:nvSpPr>
        <p:spPr>
          <a:xfrm>
            <a:off x="9665208" y="2907792"/>
            <a:ext cx="1673352" cy="320040"/>
          </a:xfrm>
          <a:prstGeom prst="rect">
            <a:avLst/>
          </a:prstGeom>
          <a:noFill/>
        </p:spPr>
        <p:txBody>
          <a:bodyPr wrap="square" anchor="t" lIns="0" rIns="0" tIns="0" bIns="0">
            <a:spAutoFit/>
          </a:bodyPr>
          <a:lstStyle/>
          <a:p>
            <a:pPr algn="l">
              <a:spcAft>
                <a:spcPts val="600"/>
              </a:spcAft>
            </a:pPr>
            <a:r>
              <a:rPr sz="1500" b="1" i="0">
                <a:solidFill>
                  <a:srgbClr val="1B2126"/>
                </a:solidFill>
                <a:latin typeface="Arial"/>
              </a:rPr>
              <a:t>Results</a:t>
            </a:r>
          </a:p>
        </p:txBody>
      </p:sp>
      <p:sp>
        <p:nvSpPr>
          <p:cNvPr id="27" name="TextBox 26"/>
          <p:cNvSpPr txBox="1"/>
          <p:nvPr/>
        </p:nvSpPr>
        <p:spPr>
          <a:xfrm>
            <a:off x="9665208" y="3246120"/>
            <a:ext cx="1673352" cy="640080"/>
          </a:xfrm>
          <a:prstGeom prst="rect">
            <a:avLst/>
          </a:prstGeom>
          <a:noFill/>
        </p:spPr>
        <p:txBody>
          <a:bodyPr wrap="square" anchor="t" lIns="0" rIns="0" tIns="0" bIns="0">
            <a:spAutoFit/>
          </a:bodyPr>
          <a:lstStyle/>
          <a:p>
            <a:pPr algn="l">
              <a:lnSpc>
                <a:spcPct val="115000"/>
              </a:lnSpc>
              <a:spcAft>
                <a:spcPts val="600"/>
              </a:spcAft>
            </a:pPr>
            <a:r>
              <a:rPr sz="1150" b="0" i="0">
                <a:solidFill>
                  <a:srgbClr val="636569"/>
                </a:solidFill>
                <a:latin typeface="Arial"/>
              </a:rPr>
              <a:t>What you present</a:t>
            </a:r>
          </a:p>
        </p:txBody>
      </p:sp>
      <p:sp>
        <p:nvSpPr>
          <p:cNvPr id="28" name="TextBox 27"/>
          <p:cNvSpPr txBox="1"/>
          <p:nvPr/>
        </p:nvSpPr>
        <p:spPr>
          <a:xfrm>
            <a:off x="685800" y="4480560"/>
            <a:ext cx="10789920" cy="502920"/>
          </a:xfrm>
          <a:prstGeom prst="rect">
            <a:avLst/>
          </a:prstGeom>
          <a:noFill/>
        </p:spPr>
        <p:txBody>
          <a:bodyPr wrap="square" anchor="t" lIns="0" rIns="0" tIns="0" bIns="0">
            <a:spAutoFit/>
          </a:bodyPr>
          <a:lstStyle/>
          <a:p>
            <a:pPr algn="l">
              <a:spcAft>
                <a:spcPts val="600"/>
              </a:spcAft>
            </a:pPr>
            <a:r>
              <a:rPr sz="1500" b="1" i="0">
                <a:solidFill>
                  <a:srgbClr val="1B2126"/>
                </a:solidFill>
                <a:latin typeface="Arial"/>
              </a:rPr>
              <a:t>You only ever type on Home.</a:t>
            </a:r>
            <a:r>
              <a:rPr sz="1500" b="0" i="0">
                <a:solidFill>
                  <a:srgbClr val="636569"/>
                </a:solidFill>
                <a:latin typeface="Arial"/>
              </a:rPr>
              <a:t>  One field on Pump Savings is editable; everything else is calculated or reference.</a:t>
            </a:r>
          </a:p>
        </p:txBody>
      </p:sp>
      <p:sp>
        <p:nvSpPr>
          <p:cNvPr id="29" name="TextBox 28"/>
          <p:cNvSpPr txBox="1"/>
          <p:nvPr/>
        </p:nvSpPr>
        <p:spPr>
          <a:xfrm>
            <a:off x="685800" y="5166360"/>
            <a:ext cx="10789920" cy="457200"/>
          </a:xfrm>
          <a:prstGeom prst="rect">
            <a:avLst/>
          </a:prstGeom>
          <a:noFill/>
        </p:spPr>
        <p:txBody>
          <a:bodyPr wrap="square" anchor="t" lIns="0" rIns="0" tIns="0" bIns="0">
            <a:spAutoFit/>
          </a:bodyPr>
          <a:lstStyle/>
          <a:p>
            <a:pPr algn="ctr">
              <a:spcAft>
                <a:spcPts val="600"/>
              </a:spcAft>
            </a:pPr>
            <a:r>
              <a:rPr sz="1400" b="1" i="0">
                <a:solidFill>
                  <a:srgbClr val="1B2126"/>
                </a:solidFill>
                <a:latin typeface="Arial"/>
              </a:rPr>
              <a:t>Results is the page you put in front of the customer.</a:t>
            </a:r>
          </a:p>
        </p:txBody>
      </p:sp>
      <p:sp>
        <p:nvSpPr>
          <p:cNvPr id="30" name="TextBox 29"/>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126"/>
        </a:solidFill>
        <a:effectLst/>
      </p:bgPr>
    </p:bg>
    <p:spTree>
      <p:nvGrpSpPr>
        <p:cNvPr id="1" name=""/>
        <p:cNvGrpSpPr/>
        <p:nvPr/>
      </p:nvGrpSpPr>
      <p:grpSpPr/>
      <p:sp>
        <p:nvSpPr>
          <p:cNvPr id="2" name="Oval 1"/>
          <p:cNvSpPr/>
          <p:nvPr/>
        </p:nvSpPr>
        <p:spPr>
          <a:xfrm>
            <a:off x="685800" y="22860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Arial"/>
              </a:rPr>
              <a:t>1</a:t>
            </a:r>
          </a:p>
        </p:txBody>
      </p:sp>
      <p:sp>
        <p:nvSpPr>
          <p:cNvPr id="3" name="TextBox 2"/>
          <p:cNvSpPr txBox="1"/>
          <p:nvPr/>
        </p:nvSpPr>
        <p:spPr>
          <a:xfrm>
            <a:off x="685800" y="3520440"/>
            <a:ext cx="8595360" cy="731520"/>
          </a:xfrm>
          <a:prstGeom prst="rect">
            <a:avLst/>
          </a:prstGeom>
          <a:noFill/>
        </p:spPr>
        <p:txBody>
          <a:bodyPr wrap="square" anchor="t" lIns="0" rIns="0" tIns="0" bIns="0">
            <a:spAutoFit/>
          </a:bodyPr>
          <a:lstStyle/>
          <a:p>
            <a:pPr algn="l">
              <a:spcAft>
                <a:spcPts val="600"/>
              </a:spcAft>
            </a:pPr>
            <a:r>
              <a:rPr sz="3600" b="1" i="0">
                <a:solidFill>
                  <a:srgbClr val="FFFFFF"/>
                </a:solidFill>
                <a:latin typeface="Arial"/>
              </a:rPr>
              <a:t>Filling it in</a:t>
            </a:r>
          </a:p>
        </p:txBody>
      </p:sp>
      <p:sp>
        <p:nvSpPr>
          <p:cNvPr id="4" name="TextBox 3"/>
          <p:cNvSpPr txBox="1"/>
          <p:nvPr/>
        </p:nvSpPr>
        <p:spPr>
          <a:xfrm>
            <a:off x="685800" y="4343400"/>
            <a:ext cx="7863840" cy="822960"/>
          </a:xfrm>
          <a:prstGeom prst="rect">
            <a:avLst/>
          </a:prstGeom>
          <a:noFill/>
        </p:spPr>
        <p:txBody>
          <a:bodyPr wrap="square" anchor="t" lIns="0" rIns="0" tIns="0" bIns="0">
            <a:spAutoFit/>
          </a:bodyPr>
          <a:lstStyle/>
          <a:p>
            <a:pPr algn="l">
              <a:spcAft>
                <a:spcPts val="600"/>
              </a:spcAft>
            </a:pPr>
            <a:r>
              <a:rPr sz="1500" b="0" i="0">
                <a:solidFill>
                  <a:srgbClr val="C4C7C9"/>
                </a:solidFill>
                <a:latin typeface="Arial"/>
              </a:rPr>
              <a:t>The Home tab is a wizard — five numbered steps, top to bottom.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Steps 1 and 2</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Language and units, then the coil itself.</a:t>
            </a:r>
          </a:p>
        </p:txBody>
      </p:sp>
      <p:sp>
        <p:nvSpPr>
          <p:cNvPr id="4" name="Rectangle 3"/>
          <p:cNvSpPr/>
          <p:nvPr/>
        </p:nvSpPr>
        <p:spPr>
          <a:xfrm>
            <a:off x="630936" y="1972375"/>
            <a:ext cx="7059168" cy="3187568"/>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home_inputs.png"/>
          <p:cNvPicPr>
            <a:picLocks noChangeAspect="1"/>
          </p:cNvPicPr>
          <p:nvPr/>
        </p:nvPicPr>
        <p:blipFill>
          <a:blip r:embed="rId2"/>
          <a:stretch>
            <a:fillRect/>
          </a:stretch>
        </p:blipFill>
        <p:spPr>
          <a:xfrm>
            <a:off x="685800" y="2027239"/>
            <a:ext cx="6949440" cy="3077840"/>
          </a:xfrm>
          <a:prstGeom prst="rect">
            <a:avLst/>
          </a:prstGeom>
        </p:spPr>
      </p:pic>
      <p:sp>
        <p:nvSpPr>
          <p:cNvPr id="6" name="TextBox 5"/>
          <p:cNvSpPr txBox="1"/>
          <p:nvPr/>
        </p:nvSpPr>
        <p:spPr>
          <a:xfrm>
            <a:off x="7955279" y="1828800"/>
            <a:ext cx="3566160" cy="365760"/>
          </a:xfrm>
          <a:prstGeom prst="rect">
            <a:avLst/>
          </a:prstGeom>
          <a:noFill/>
        </p:spPr>
        <p:txBody>
          <a:bodyPr wrap="square" anchor="t" lIns="0" rIns="0" tIns="0" bIns="0">
            <a:spAutoFit/>
          </a:bodyPr>
          <a:lstStyle/>
          <a:p>
            <a:pPr algn="l">
              <a:spcAft>
                <a:spcPts val="600"/>
              </a:spcAft>
            </a:pPr>
            <a:r>
              <a:rPr sz="1700" b="1" i="0">
                <a:solidFill>
                  <a:srgbClr val="1B2126"/>
                </a:solidFill>
                <a:latin typeface="Arial"/>
              </a:rPr>
              <a:t>Follow the blue callouts</a:t>
            </a:r>
          </a:p>
        </p:txBody>
      </p:sp>
      <p:sp>
        <p:nvSpPr>
          <p:cNvPr id="7" name="TextBox 6"/>
          <p:cNvSpPr txBox="1"/>
          <p:nvPr/>
        </p:nvSpPr>
        <p:spPr>
          <a:xfrm>
            <a:off x="7955279" y="2286000"/>
            <a:ext cx="3566160" cy="1097280"/>
          </a:xfrm>
          <a:prstGeom prst="rect">
            <a:avLst/>
          </a:prstGeom>
          <a:noFill/>
        </p:spPr>
        <p:txBody>
          <a:bodyPr wrap="square" anchor="t" lIns="0" rIns="0" tIns="0" bIns="0">
            <a:spAutoFit/>
          </a:bodyPr>
          <a:lstStyle/>
          <a:p>
            <a:pPr algn="l">
              <a:lnSpc>
                <a:spcPct val="125000"/>
              </a:lnSpc>
              <a:spcAft>
                <a:spcPts val="600"/>
              </a:spcAft>
            </a:pPr>
            <a:r>
              <a:rPr sz="1250" b="0" i="0">
                <a:solidFill>
                  <a:srgbClr val="636569"/>
                </a:solidFill>
                <a:latin typeface="Arial"/>
              </a:rPr>
              <a:t>Every orange band has a numbered Step callout beside it telling you what belongs in that block. Work down the page and the tool does the rest.</a:t>
            </a:r>
          </a:p>
        </p:txBody>
      </p:sp>
      <p:sp>
        <p:nvSpPr>
          <p:cNvPr id="8" name="Rounded Rectangle 7"/>
          <p:cNvSpPr/>
          <p:nvPr/>
        </p:nvSpPr>
        <p:spPr>
          <a:xfrm>
            <a:off x="7955279" y="3566160"/>
            <a:ext cx="3566160" cy="1691640"/>
          </a:xfrm>
          <a:prstGeom prst="roundRect">
            <a:avLst>
              <a:gd name="adj" fmla="val 6000"/>
            </a:avLst>
          </a:prstGeom>
          <a:solidFill>
            <a:srgbClr val="EA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11311" y="3794760"/>
            <a:ext cx="3063240" cy="1280160"/>
          </a:xfrm>
          <a:prstGeom prst="rect">
            <a:avLst/>
          </a:prstGeom>
          <a:noFill/>
        </p:spPr>
        <p:txBody>
          <a:bodyPr wrap="square" anchor="t" lIns="0" rIns="0" tIns="0" bIns="0">
            <a:spAutoFit/>
          </a:bodyPr>
          <a:lstStyle/>
          <a:p>
            <a:pPr algn="l">
              <a:lnSpc>
                <a:spcPct val="125000"/>
              </a:lnSpc>
              <a:spcAft>
                <a:spcPts val="600"/>
              </a:spcAft>
            </a:pPr>
            <a:r>
              <a:rPr sz="1250" b="1" i="0">
                <a:solidFill>
                  <a:srgbClr val="1B2126"/>
                </a:solidFill>
                <a:latin typeface="Arial"/>
              </a:rPr>
              <a:t>Shading is the key. </a:t>
            </a:r>
            <a:r>
              <a:rPr sz="1250" b="0" i="0">
                <a:solidFill>
                  <a:srgbClr val="636569"/>
                </a:solidFill>
                <a:latin typeface="Arial"/>
              </a:rPr>
              <a:t>Pale cells are yours to type in. Blue-grey cells are labels or results and are protected — if it will not accept typing, it is a result.</a:t>
            </a:r>
          </a:p>
        </p:txBody>
      </p:sp>
      <p:sp>
        <p:nvSpPr>
          <p:cNvPr id="10" name="TextBox 9"/>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The coil design inputs</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Eleven values. Everything downstream is built from them.</a:t>
            </a:r>
          </a:p>
        </p:txBody>
      </p:sp>
      <p:sp>
        <p:nvSpPr>
          <p:cNvPr id="4" name="Oval 3"/>
          <p:cNvSpPr/>
          <p:nvPr/>
        </p:nvSpPr>
        <p:spPr>
          <a:xfrm>
            <a:off x="685800" y="203454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3544" y="193852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Electricity cost </a:t>
            </a:r>
            <a:r>
              <a:rPr sz="1300" b="0" i="0">
                <a:solidFill>
                  <a:srgbClr val="636569"/>
                </a:solidFill>
                <a:latin typeface="Arial"/>
              </a:rPr>
              <a:t>$/kWh — blended all-in rate</a:t>
            </a:r>
          </a:p>
        </p:txBody>
      </p:sp>
      <p:sp>
        <p:nvSpPr>
          <p:cNvPr id="6" name="Oval 5"/>
          <p:cNvSpPr/>
          <p:nvPr/>
        </p:nvSpPr>
        <p:spPr>
          <a:xfrm>
            <a:off x="685800" y="249174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39572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Design coil load </a:t>
            </a:r>
            <a:r>
              <a:rPr sz="1300" b="0" i="0">
                <a:solidFill>
                  <a:srgbClr val="636569"/>
                </a:solidFill>
                <a:latin typeface="Arial"/>
              </a:rPr>
              <a:t>GPM — this is a FLOW, not a tonnage</a:t>
            </a:r>
          </a:p>
        </p:txBody>
      </p:sp>
      <p:sp>
        <p:nvSpPr>
          <p:cNvPr id="8" name="Oval 7"/>
          <p:cNvSpPr/>
          <p:nvPr/>
        </p:nvSpPr>
        <p:spPr>
          <a:xfrm>
            <a:off x="685800" y="294894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285292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Number of coils </a:t>
            </a:r>
            <a:r>
              <a:rPr sz="1300" b="0" i="0">
                <a:solidFill>
                  <a:srgbClr val="636569"/>
                </a:solidFill>
                <a:latin typeface="Arial"/>
              </a:rPr>
              <a:t>fixed at 1 — one coil at a time</a:t>
            </a:r>
          </a:p>
        </p:txBody>
      </p:sp>
      <p:sp>
        <p:nvSpPr>
          <p:cNvPr id="10" name="Oval 9"/>
          <p:cNvSpPr/>
          <p:nvPr/>
        </p:nvSpPr>
        <p:spPr>
          <a:xfrm>
            <a:off x="685800" y="340614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331012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Operating hours / day </a:t>
            </a:r>
            <a:r>
              <a:rPr sz="1300" b="0" i="0">
                <a:solidFill>
                  <a:srgbClr val="636569"/>
                </a:solidFill>
                <a:latin typeface="Arial"/>
              </a:rPr>
              <a:t/>
            </a:r>
          </a:p>
        </p:txBody>
      </p:sp>
      <p:sp>
        <p:nvSpPr>
          <p:cNvPr id="12" name="Oval 11"/>
          <p:cNvSpPr/>
          <p:nvPr/>
        </p:nvSpPr>
        <p:spPr>
          <a:xfrm>
            <a:off x="685800" y="386334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376732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Operating days / week </a:t>
            </a:r>
            <a:r>
              <a:rPr sz="1300" b="0" i="0">
                <a:solidFill>
                  <a:srgbClr val="636569"/>
                </a:solidFill>
                <a:latin typeface="Arial"/>
              </a:rPr>
              <a:t/>
            </a:r>
          </a:p>
        </p:txBody>
      </p:sp>
      <p:sp>
        <p:nvSpPr>
          <p:cNvPr id="14" name="Oval 13"/>
          <p:cNvSpPr/>
          <p:nvPr/>
        </p:nvSpPr>
        <p:spPr>
          <a:xfrm>
            <a:off x="685800" y="432054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422452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Operating weeks / year </a:t>
            </a:r>
            <a:r>
              <a:rPr sz="1300" b="0" i="0">
                <a:solidFill>
                  <a:srgbClr val="636569"/>
                </a:solidFill>
                <a:latin typeface="Arial"/>
              </a:rPr>
              <a:t/>
            </a:r>
          </a:p>
        </p:txBody>
      </p:sp>
      <p:sp>
        <p:nvSpPr>
          <p:cNvPr id="16" name="Oval 15"/>
          <p:cNvSpPr/>
          <p:nvPr/>
        </p:nvSpPr>
        <p:spPr>
          <a:xfrm>
            <a:off x="685800" y="486918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477316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Primary pump head </a:t>
            </a:r>
            <a:r>
              <a:rPr sz="1300" b="0" i="0">
                <a:solidFill>
                  <a:srgbClr val="636569"/>
                </a:solidFill>
                <a:latin typeface="Arial"/>
              </a:rPr>
              <a:t>ft. at design flow</a:t>
            </a:r>
          </a:p>
        </p:txBody>
      </p:sp>
      <p:sp>
        <p:nvSpPr>
          <p:cNvPr id="18" name="Oval 17"/>
          <p:cNvSpPr/>
          <p:nvPr/>
        </p:nvSpPr>
        <p:spPr>
          <a:xfrm>
            <a:off x="685800" y="5326380"/>
            <a:ext cx="91440" cy="9144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5230368"/>
            <a:ext cx="4791456" cy="457200"/>
          </a:xfrm>
          <a:prstGeom prst="rect">
            <a:avLst/>
          </a:prstGeom>
          <a:noFill/>
        </p:spPr>
        <p:txBody>
          <a:bodyPr wrap="square" anchor="t" lIns="0" rIns="0" tIns="0" bIns="0">
            <a:spAutoFit/>
          </a:bodyPr>
          <a:lstStyle/>
          <a:p>
            <a:pPr algn="l">
              <a:spcAft>
                <a:spcPts val="600"/>
              </a:spcAft>
            </a:pPr>
            <a:r>
              <a:rPr sz="1300" b="1" i="0">
                <a:solidFill>
                  <a:srgbClr val="1B2126"/>
                </a:solidFill>
                <a:latin typeface="Arial"/>
              </a:rPr>
              <a:t>Pump, VFD, motor efficiency </a:t>
            </a:r>
            <a:r>
              <a:rPr sz="1300" b="0" i="0">
                <a:solidFill>
                  <a:srgbClr val="636569"/>
                </a:solidFill>
                <a:latin typeface="Arial"/>
              </a:rPr>
              <a:t>% wire-to-water</a:t>
            </a:r>
          </a:p>
        </p:txBody>
      </p:sp>
      <p:sp>
        <p:nvSpPr>
          <p:cNvPr id="20" name="Rounded Rectangle 19"/>
          <p:cNvSpPr/>
          <p:nvPr/>
        </p:nvSpPr>
        <p:spPr>
          <a:xfrm>
            <a:off x="6309360" y="1810512"/>
            <a:ext cx="5193792" cy="3200400"/>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0" y="2048256"/>
            <a:ext cx="4663440" cy="365760"/>
          </a:xfrm>
          <a:prstGeom prst="rect">
            <a:avLst/>
          </a:prstGeom>
          <a:noFill/>
        </p:spPr>
        <p:txBody>
          <a:bodyPr wrap="square" anchor="t" lIns="0" rIns="0" tIns="0" bIns="0">
            <a:spAutoFit/>
          </a:bodyPr>
          <a:lstStyle/>
          <a:p>
            <a:pPr algn="l">
              <a:spcAft>
                <a:spcPts val="600"/>
              </a:spcAft>
            </a:pPr>
            <a:r>
              <a:rPr sz="1100" b="1" i="0">
                <a:solidFill>
                  <a:srgbClr val="FF6600"/>
                </a:solidFill>
                <a:latin typeface="Arial"/>
              </a:rPr>
              <a:t>THE TWO THAT DRIVE EVERYTHING</a:t>
            </a:r>
          </a:p>
        </p:txBody>
      </p:sp>
      <p:sp>
        <p:nvSpPr>
          <p:cNvPr id="22" name="TextBox 21"/>
          <p:cNvSpPr txBox="1"/>
          <p:nvPr/>
        </p:nvSpPr>
        <p:spPr>
          <a:xfrm>
            <a:off x="6583680" y="2542032"/>
            <a:ext cx="4663440" cy="310896"/>
          </a:xfrm>
          <a:prstGeom prst="rect">
            <a:avLst/>
          </a:prstGeom>
          <a:noFill/>
        </p:spPr>
        <p:txBody>
          <a:bodyPr wrap="square" anchor="t" lIns="0" rIns="0" tIns="0" bIns="0">
            <a:spAutoFit/>
          </a:bodyPr>
          <a:lstStyle/>
          <a:p>
            <a:pPr algn="l">
              <a:spcAft>
                <a:spcPts val="600"/>
              </a:spcAft>
            </a:pPr>
            <a:r>
              <a:rPr sz="1700" b="1" i="0">
                <a:solidFill>
                  <a:srgbClr val="1B2126"/>
                </a:solidFill>
                <a:latin typeface="Arial"/>
              </a:rPr>
              <a:t>Actual Delta-T</a:t>
            </a:r>
          </a:p>
        </p:txBody>
      </p:sp>
      <p:sp>
        <p:nvSpPr>
          <p:cNvPr id="23" name="TextBox 22"/>
          <p:cNvSpPr txBox="1"/>
          <p:nvPr/>
        </p:nvSpPr>
        <p:spPr>
          <a:xfrm>
            <a:off x="6583680" y="2871215"/>
            <a:ext cx="4663440" cy="548640"/>
          </a:xfrm>
          <a:prstGeom prst="rect">
            <a:avLst/>
          </a:prstGeom>
          <a:noFill/>
        </p:spPr>
        <p:txBody>
          <a:bodyPr wrap="square" anchor="t" lIns="0" rIns="0" tIns="0" bIns="0">
            <a:spAutoFit/>
          </a:bodyPr>
          <a:lstStyle/>
          <a:p>
            <a:pPr algn="l">
              <a:lnSpc>
                <a:spcPct val="120000"/>
              </a:lnSpc>
              <a:spcAft>
                <a:spcPts val="600"/>
              </a:spcAft>
            </a:pPr>
            <a:r>
              <a:rPr sz="1250" b="0" i="0">
                <a:solidFill>
                  <a:srgbClr val="636569"/>
                </a:solidFill>
                <a:latin typeface="Arial"/>
              </a:rPr>
              <a:t>What the coil achieves today — the “before” case.</a:t>
            </a:r>
          </a:p>
        </p:txBody>
      </p:sp>
      <p:sp>
        <p:nvSpPr>
          <p:cNvPr id="24" name="TextBox 23"/>
          <p:cNvSpPr txBox="1"/>
          <p:nvPr/>
        </p:nvSpPr>
        <p:spPr>
          <a:xfrm>
            <a:off x="6583680" y="3593591"/>
            <a:ext cx="4663440" cy="310896"/>
          </a:xfrm>
          <a:prstGeom prst="rect">
            <a:avLst/>
          </a:prstGeom>
          <a:noFill/>
        </p:spPr>
        <p:txBody>
          <a:bodyPr wrap="square" anchor="t" lIns="0" rIns="0" tIns="0" bIns="0">
            <a:spAutoFit/>
          </a:bodyPr>
          <a:lstStyle/>
          <a:p>
            <a:pPr algn="l">
              <a:spcAft>
                <a:spcPts val="600"/>
              </a:spcAft>
            </a:pPr>
            <a:r>
              <a:rPr sz="1700" b="1" i="0">
                <a:solidFill>
                  <a:srgbClr val="1B2126"/>
                </a:solidFill>
                <a:latin typeface="Arial"/>
              </a:rPr>
              <a:t>Future Delta-T</a:t>
            </a:r>
          </a:p>
        </p:txBody>
      </p:sp>
      <p:sp>
        <p:nvSpPr>
          <p:cNvPr id="25" name="TextBox 24"/>
          <p:cNvSpPr txBox="1"/>
          <p:nvPr/>
        </p:nvSpPr>
        <p:spPr>
          <a:xfrm>
            <a:off x="6583680" y="3922776"/>
            <a:ext cx="4663440" cy="548640"/>
          </a:xfrm>
          <a:prstGeom prst="rect">
            <a:avLst/>
          </a:prstGeom>
          <a:noFill/>
        </p:spPr>
        <p:txBody>
          <a:bodyPr wrap="square" anchor="t" lIns="0" rIns="0" tIns="0" bIns="0">
            <a:spAutoFit/>
          </a:bodyPr>
          <a:lstStyle/>
          <a:p>
            <a:pPr algn="l">
              <a:lnSpc>
                <a:spcPct val="120000"/>
              </a:lnSpc>
              <a:spcAft>
                <a:spcPts val="600"/>
              </a:spcAft>
            </a:pPr>
            <a:r>
              <a:rPr sz="1250" b="0" i="0">
                <a:solidFill>
                  <a:srgbClr val="636569"/>
                </a:solidFill>
                <a:latin typeface="Arial"/>
              </a:rPr>
              <a:t>What the Energy Valve will hold — the “after” case.</a:t>
            </a:r>
          </a:p>
        </p:txBody>
      </p:sp>
      <p:sp>
        <p:nvSpPr>
          <p:cNvPr id="26" name="TextBox 25"/>
          <p:cNvSpPr txBox="1"/>
          <p:nvPr/>
        </p:nvSpPr>
        <p:spPr>
          <a:xfrm>
            <a:off x="6309360" y="5138928"/>
            <a:ext cx="5193792" cy="731520"/>
          </a:xfrm>
          <a:prstGeom prst="rect">
            <a:avLst/>
          </a:prstGeom>
          <a:noFill/>
        </p:spPr>
        <p:txBody>
          <a:bodyPr wrap="square" anchor="t" lIns="0" rIns="0" tIns="0" bIns="0">
            <a:spAutoFit/>
          </a:bodyPr>
          <a:lstStyle/>
          <a:p>
            <a:pPr algn="l">
              <a:lnSpc>
                <a:spcPct val="120000"/>
              </a:lnSpc>
              <a:spcAft>
                <a:spcPts val="600"/>
              </a:spcAft>
            </a:pPr>
            <a:r>
              <a:rPr sz="1250" b="0" i="0">
                <a:solidFill>
                  <a:srgbClr val="636569"/>
                </a:solidFill>
                <a:latin typeface="Arial"/>
              </a:rPr>
              <a:t>The tool enforces a minimum gap between the two, so the pair always makes physical sense.</a:t>
            </a:r>
          </a:p>
        </p:txBody>
      </p:sp>
      <p:sp>
        <p:nvSpPr>
          <p:cNvPr id="27" name="Rounded Rectangle 26"/>
          <p:cNvSpPr/>
          <p:nvPr/>
        </p:nvSpPr>
        <p:spPr>
          <a:xfrm>
            <a:off x="685800" y="5532120"/>
            <a:ext cx="5029200" cy="685800"/>
          </a:xfrm>
          <a:prstGeom prst="roundRect">
            <a:avLst>
              <a:gd name="adj" fmla="val 6000"/>
            </a:avLst>
          </a:prstGeom>
          <a:solidFill>
            <a:srgbClr val="EA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41832" y="5687568"/>
            <a:ext cx="4526280" cy="457200"/>
          </a:xfrm>
          <a:prstGeom prst="rect">
            <a:avLst/>
          </a:prstGeom>
          <a:noFill/>
        </p:spPr>
        <p:txBody>
          <a:bodyPr wrap="square" anchor="t" lIns="0" rIns="0" tIns="0" bIns="0">
            <a:spAutoFit/>
          </a:bodyPr>
          <a:lstStyle/>
          <a:p>
            <a:pPr algn="l">
              <a:spcAft>
                <a:spcPts val="600"/>
              </a:spcAft>
            </a:pPr>
            <a:r>
              <a:rPr sz="1200" b="1" i="0">
                <a:solidFill>
                  <a:srgbClr val="1B2126"/>
                </a:solidFill>
                <a:latin typeface="Arial"/>
              </a:rPr>
              <a:t>Watch the label: </a:t>
            </a:r>
            <a:r>
              <a:rPr sz="1200" b="0" i="0">
                <a:solidFill>
                  <a:srgbClr val="636569"/>
                </a:solidFill>
                <a:latin typeface="Arial"/>
              </a:rPr>
              <a:t>“Design Coil Load” is in GPM.</a:t>
            </a:r>
          </a:p>
        </p:txBody>
      </p:sp>
      <p:sp>
        <p:nvSpPr>
          <p:cNvPr id="29" name="TextBox 28"/>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Steps 3 and 4</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Operating time, then the climate profile.</a:t>
            </a:r>
          </a:p>
        </p:txBody>
      </p:sp>
      <p:sp>
        <p:nvSpPr>
          <p:cNvPr id="4" name="Rectangle 3"/>
          <p:cNvSpPr/>
          <p:nvPr/>
        </p:nvSpPr>
        <p:spPr>
          <a:xfrm>
            <a:off x="630936" y="2065520"/>
            <a:ext cx="5596128" cy="1721118"/>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home_operating.png"/>
          <p:cNvPicPr>
            <a:picLocks noChangeAspect="1"/>
          </p:cNvPicPr>
          <p:nvPr/>
        </p:nvPicPr>
        <p:blipFill>
          <a:blip r:embed="rId2"/>
          <a:stretch>
            <a:fillRect/>
          </a:stretch>
        </p:blipFill>
        <p:spPr>
          <a:xfrm>
            <a:off x="685800" y="2120384"/>
            <a:ext cx="5486400" cy="1611390"/>
          </a:xfrm>
          <a:prstGeom prst="rect">
            <a:avLst/>
          </a:prstGeom>
        </p:spPr>
      </p:pic>
      <p:sp>
        <p:nvSpPr>
          <p:cNvPr id="6" name="Rectangle 5"/>
          <p:cNvSpPr/>
          <p:nvPr/>
        </p:nvSpPr>
        <p:spPr>
          <a:xfrm>
            <a:off x="630936" y="4324344"/>
            <a:ext cx="5596128" cy="1866910"/>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home_climate.png"/>
          <p:cNvPicPr>
            <a:picLocks noChangeAspect="1"/>
          </p:cNvPicPr>
          <p:nvPr/>
        </p:nvPicPr>
        <p:blipFill>
          <a:blip r:embed="rId3"/>
          <a:stretch>
            <a:fillRect/>
          </a:stretch>
        </p:blipFill>
        <p:spPr>
          <a:xfrm>
            <a:off x="685800" y="4379208"/>
            <a:ext cx="5486400" cy="1757182"/>
          </a:xfrm>
          <a:prstGeom prst="rect">
            <a:avLst/>
          </a:prstGeom>
        </p:spPr>
      </p:pic>
      <p:sp>
        <p:nvSpPr>
          <p:cNvPr id="8" name="TextBox 7"/>
          <p:cNvSpPr txBox="1"/>
          <p:nvPr/>
        </p:nvSpPr>
        <p:spPr>
          <a:xfrm>
            <a:off x="6537960" y="1828800"/>
            <a:ext cx="4937760" cy="365760"/>
          </a:xfrm>
          <a:prstGeom prst="rect">
            <a:avLst/>
          </a:prstGeom>
          <a:noFill/>
        </p:spPr>
        <p:txBody>
          <a:bodyPr wrap="square" anchor="t" lIns="0" rIns="0" tIns="0" bIns="0">
            <a:spAutoFit/>
          </a:bodyPr>
          <a:lstStyle/>
          <a:p>
            <a:pPr algn="l">
              <a:spcAft>
                <a:spcPts val="600"/>
              </a:spcAft>
            </a:pPr>
            <a:r>
              <a:rPr sz="1700" b="1" i="0">
                <a:solidFill>
                  <a:srgbClr val="1B2126"/>
                </a:solidFill>
                <a:latin typeface="Arial"/>
              </a:rPr>
              <a:t>Four load points, not 8,760 hours</a:t>
            </a:r>
          </a:p>
        </p:txBody>
      </p:sp>
      <p:sp>
        <p:nvSpPr>
          <p:cNvPr id="9" name="TextBox 8"/>
          <p:cNvSpPr txBox="1"/>
          <p:nvPr/>
        </p:nvSpPr>
        <p:spPr>
          <a:xfrm>
            <a:off x="6537960" y="2286000"/>
            <a:ext cx="4937760" cy="1051560"/>
          </a:xfrm>
          <a:prstGeom prst="rect">
            <a:avLst/>
          </a:prstGeom>
          <a:noFill/>
        </p:spPr>
        <p:txBody>
          <a:bodyPr wrap="square" anchor="t" lIns="0" rIns="0" tIns="0" bIns="0">
            <a:spAutoFit/>
          </a:bodyPr>
          <a:lstStyle/>
          <a:p>
            <a:pPr algn="l">
              <a:lnSpc>
                <a:spcPct val="125000"/>
              </a:lnSpc>
              <a:spcAft>
                <a:spcPts val="600"/>
              </a:spcAft>
            </a:pPr>
            <a:r>
              <a:rPr sz="1250" b="0" i="0">
                <a:solidFill>
                  <a:srgbClr val="636569"/>
                </a:solidFill>
                <a:latin typeface="Arial"/>
              </a:rPr>
              <a:t>Annual hours come from your three entries, then split across four representative points — Design, Peak, Low and Minimum. Only the share column is editable and the four must total 100%.</a:t>
            </a:r>
          </a:p>
        </p:txBody>
      </p:sp>
      <p:sp>
        <p:nvSpPr>
          <p:cNvPr id="10" name="Rounded Rectangle 9"/>
          <p:cNvSpPr/>
          <p:nvPr/>
        </p:nvSpPr>
        <p:spPr>
          <a:xfrm>
            <a:off x="6537960" y="3520440"/>
            <a:ext cx="4956048" cy="1371600"/>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12280" y="3730752"/>
            <a:ext cx="4434840" cy="1005840"/>
          </a:xfrm>
          <a:prstGeom prst="rect">
            <a:avLst/>
          </a:prstGeom>
          <a:noFill/>
        </p:spPr>
        <p:txBody>
          <a:bodyPr wrap="square" anchor="t" lIns="0" rIns="0" tIns="0" bIns="0">
            <a:spAutoFit/>
          </a:bodyPr>
          <a:lstStyle/>
          <a:p>
            <a:pPr algn="l">
              <a:lnSpc>
                <a:spcPct val="125000"/>
              </a:lnSpc>
              <a:spcAft>
                <a:spcPts val="600"/>
              </a:spcAft>
            </a:pPr>
            <a:r>
              <a:rPr sz="1250" b="1" i="0">
                <a:solidFill>
                  <a:srgbClr val="1B2126"/>
                </a:solidFill>
                <a:latin typeface="Arial"/>
              </a:rPr>
              <a:t>Change the split only with a reason. </a:t>
            </a:r>
            <a:r>
              <a:rPr sz="1250" b="0" i="0">
                <a:solidFill>
                  <a:srgbClr val="636569"/>
                </a:solidFill>
                <a:latin typeface="Arial"/>
              </a:rPr>
              <a:t>The defaults are sensible. If you have trend data from the building system, use it — otherwise leave them alone.</a:t>
            </a:r>
          </a:p>
        </p:txBody>
      </p:sp>
      <p:sp>
        <p:nvSpPr>
          <p:cNvPr id="12" name="TextBox 11"/>
          <p:cNvSpPr txBox="1"/>
          <p:nvPr/>
        </p:nvSpPr>
        <p:spPr>
          <a:xfrm>
            <a:off x="6537960" y="5120640"/>
            <a:ext cx="4937760" cy="365760"/>
          </a:xfrm>
          <a:prstGeom prst="rect">
            <a:avLst/>
          </a:prstGeom>
          <a:noFill/>
        </p:spPr>
        <p:txBody>
          <a:bodyPr wrap="square" anchor="t" lIns="0" rIns="0" tIns="0" bIns="0">
            <a:spAutoFit/>
          </a:bodyPr>
          <a:lstStyle/>
          <a:p>
            <a:pPr algn="l">
              <a:spcAft>
                <a:spcPts val="600"/>
              </a:spcAft>
            </a:pPr>
            <a:r>
              <a:rPr sz="1500" b="1" i="0">
                <a:solidFill>
                  <a:srgbClr val="1B2126"/>
                </a:solidFill>
                <a:latin typeface="Arial"/>
              </a:rPr>
              <a:t>Climate region</a:t>
            </a:r>
          </a:p>
        </p:txBody>
      </p:sp>
      <p:sp>
        <p:nvSpPr>
          <p:cNvPr id="13" name="TextBox 12"/>
          <p:cNvSpPr txBox="1"/>
          <p:nvPr/>
        </p:nvSpPr>
        <p:spPr>
          <a:xfrm>
            <a:off x="6537960" y="5504688"/>
            <a:ext cx="4937760" cy="777240"/>
          </a:xfrm>
          <a:prstGeom prst="rect">
            <a:avLst/>
          </a:prstGeom>
          <a:noFill/>
        </p:spPr>
        <p:txBody>
          <a:bodyPr wrap="square" anchor="t" lIns="0" rIns="0" tIns="0" bIns="0">
            <a:spAutoFit/>
          </a:bodyPr>
          <a:lstStyle/>
          <a:p>
            <a:pPr algn="l">
              <a:lnSpc>
                <a:spcPct val="125000"/>
              </a:lnSpc>
              <a:spcAft>
                <a:spcPts val="600"/>
              </a:spcAft>
            </a:pPr>
            <a:r>
              <a:rPr sz="1250" b="0" i="0">
                <a:solidFill>
                  <a:srgbClr val="636569"/>
                </a:solidFill>
                <a:latin typeface="Arial"/>
              </a:rPr>
              <a:t>Pick your region for its cooling-degree-day profile, or use Custom Region to enter your own figures for a site that fits none of them.</a:t>
            </a:r>
          </a:p>
        </p:txBody>
      </p:sp>
      <p:sp>
        <p:nvSpPr>
          <p:cNvPr id="14" name="TextBox 13"/>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Step 5 — the financial inputs</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Three entries, and the three results they drive.</a:t>
            </a:r>
          </a:p>
        </p:txBody>
      </p:sp>
      <p:sp>
        <p:nvSpPr>
          <p:cNvPr id="4" name="Rectangle 3"/>
          <p:cNvSpPr/>
          <p:nvPr/>
        </p:nvSpPr>
        <p:spPr>
          <a:xfrm>
            <a:off x="630936" y="1771830"/>
            <a:ext cx="10927080" cy="2308499"/>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home_financial.png"/>
          <p:cNvPicPr>
            <a:picLocks noChangeAspect="1"/>
          </p:cNvPicPr>
          <p:nvPr/>
        </p:nvPicPr>
        <p:blipFill>
          <a:blip r:embed="rId2"/>
          <a:stretch>
            <a:fillRect/>
          </a:stretch>
        </p:blipFill>
        <p:spPr>
          <a:xfrm>
            <a:off x="685800" y="1826694"/>
            <a:ext cx="10817352" cy="2198771"/>
          </a:xfrm>
          <a:prstGeom prst="rect">
            <a:avLst/>
          </a:prstGeom>
        </p:spPr>
      </p:pic>
      <p:sp>
        <p:nvSpPr>
          <p:cNvPr id="6" name="Rounded Rectangle 5"/>
          <p:cNvSpPr/>
          <p:nvPr/>
        </p:nvSpPr>
        <p:spPr>
          <a:xfrm>
            <a:off x="685800" y="4389120"/>
            <a:ext cx="3456432" cy="1600200"/>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60120" y="4599432"/>
            <a:ext cx="2926080" cy="310896"/>
          </a:xfrm>
          <a:prstGeom prst="rect">
            <a:avLst/>
          </a:prstGeom>
          <a:noFill/>
        </p:spPr>
        <p:txBody>
          <a:bodyPr wrap="square" anchor="t" lIns="0" rIns="0" tIns="0" bIns="0">
            <a:spAutoFit/>
          </a:bodyPr>
          <a:lstStyle/>
          <a:p>
            <a:pPr algn="l">
              <a:spcAft>
                <a:spcPts val="600"/>
              </a:spcAft>
            </a:pPr>
            <a:r>
              <a:rPr sz="1450" b="1" i="0">
                <a:solidFill>
                  <a:srgbClr val="1B2126"/>
                </a:solidFill>
                <a:latin typeface="Arial"/>
              </a:rPr>
              <a:t>Investment cost</a:t>
            </a:r>
          </a:p>
        </p:txBody>
      </p:sp>
      <p:sp>
        <p:nvSpPr>
          <p:cNvPr id="8" name="TextBox 7"/>
          <p:cNvSpPr txBox="1"/>
          <p:nvPr/>
        </p:nvSpPr>
        <p:spPr>
          <a:xfrm>
            <a:off x="960120" y="4956048"/>
            <a:ext cx="2926080" cy="868680"/>
          </a:xfrm>
          <a:prstGeom prst="rect">
            <a:avLst/>
          </a:prstGeom>
          <a:noFill/>
        </p:spPr>
        <p:txBody>
          <a:bodyPr wrap="square" anchor="t" lIns="0" rIns="0" tIns="0" bIns="0">
            <a:spAutoFit/>
          </a:bodyPr>
          <a:lstStyle/>
          <a:p>
            <a:pPr algn="l">
              <a:lnSpc>
                <a:spcPct val="122000"/>
              </a:lnSpc>
              <a:spcAft>
                <a:spcPts val="600"/>
              </a:spcAft>
            </a:pPr>
            <a:r>
              <a:rPr sz="1200" b="0" i="0">
                <a:solidFill>
                  <a:srgbClr val="636569"/>
                </a:solidFill>
                <a:latin typeface="Arial"/>
              </a:rPr>
              <a:t>Energy Valve plus installation — the INCREMENTAL cost over the valve that would have been fitted anyway.</a:t>
            </a:r>
          </a:p>
        </p:txBody>
      </p:sp>
      <p:sp>
        <p:nvSpPr>
          <p:cNvPr id="9" name="Rounded Rectangle 8"/>
          <p:cNvSpPr/>
          <p:nvPr/>
        </p:nvSpPr>
        <p:spPr>
          <a:xfrm>
            <a:off x="4370832" y="4389120"/>
            <a:ext cx="3456432" cy="1600200"/>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645152" y="4599432"/>
            <a:ext cx="2926080" cy="310896"/>
          </a:xfrm>
          <a:prstGeom prst="rect">
            <a:avLst/>
          </a:prstGeom>
          <a:noFill/>
        </p:spPr>
        <p:txBody>
          <a:bodyPr wrap="square" anchor="t" lIns="0" rIns="0" tIns="0" bIns="0">
            <a:spAutoFit/>
          </a:bodyPr>
          <a:lstStyle/>
          <a:p>
            <a:pPr algn="l">
              <a:spcAft>
                <a:spcPts val="600"/>
              </a:spcAft>
            </a:pPr>
            <a:r>
              <a:rPr sz="1450" b="1" i="0">
                <a:solidFill>
                  <a:srgbClr val="1B2126"/>
                </a:solidFill>
                <a:latin typeface="Arial"/>
              </a:rPr>
              <a:t>Discount rate</a:t>
            </a:r>
          </a:p>
        </p:txBody>
      </p:sp>
      <p:sp>
        <p:nvSpPr>
          <p:cNvPr id="11" name="TextBox 10"/>
          <p:cNvSpPr txBox="1"/>
          <p:nvPr/>
        </p:nvSpPr>
        <p:spPr>
          <a:xfrm>
            <a:off x="4645152" y="4956048"/>
            <a:ext cx="2926080" cy="868680"/>
          </a:xfrm>
          <a:prstGeom prst="rect">
            <a:avLst/>
          </a:prstGeom>
          <a:noFill/>
        </p:spPr>
        <p:txBody>
          <a:bodyPr wrap="square" anchor="t" lIns="0" rIns="0" tIns="0" bIns="0">
            <a:spAutoFit/>
          </a:bodyPr>
          <a:lstStyle/>
          <a:p>
            <a:pPr algn="l">
              <a:lnSpc>
                <a:spcPct val="122000"/>
              </a:lnSpc>
              <a:spcAft>
                <a:spcPts val="600"/>
              </a:spcAft>
            </a:pPr>
            <a:r>
              <a:rPr sz="1200" b="0" i="0">
                <a:solidFill>
                  <a:srgbClr val="636569"/>
                </a:solidFill>
                <a:latin typeface="Arial"/>
              </a:rPr>
              <a:t>Converts future dollars into today's. Your organisation's required return.</a:t>
            </a:r>
          </a:p>
        </p:txBody>
      </p:sp>
      <p:sp>
        <p:nvSpPr>
          <p:cNvPr id="12" name="Rounded Rectangle 11"/>
          <p:cNvSpPr/>
          <p:nvPr/>
        </p:nvSpPr>
        <p:spPr>
          <a:xfrm>
            <a:off x="8055864" y="4389120"/>
            <a:ext cx="3456432" cy="1600200"/>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30184" y="4599432"/>
            <a:ext cx="2926080" cy="310896"/>
          </a:xfrm>
          <a:prstGeom prst="rect">
            <a:avLst/>
          </a:prstGeom>
          <a:noFill/>
        </p:spPr>
        <p:txBody>
          <a:bodyPr wrap="square" anchor="t" lIns="0" rIns="0" tIns="0" bIns="0">
            <a:spAutoFit/>
          </a:bodyPr>
          <a:lstStyle/>
          <a:p>
            <a:pPr algn="l">
              <a:spcAft>
                <a:spcPts val="600"/>
              </a:spcAft>
            </a:pPr>
            <a:r>
              <a:rPr sz="1450" b="1" i="0">
                <a:solidFill>
                  <a:srgbClr val="1B2126"/>
                </a:solidFill>
                <a:latin typeface="Arial"/>
              </a:rPr>
              <a:t>Estimated measure life</a:t>
            </a:r>
          </a:p>
        </p:txBody>
      </p:sp>
      <p:sp>
        <p:nvSpPr>
          <p:cNvPr id="14" name="TextBox 13"/>
          <p:cNvSpPr txBox="1"/>
          <p:nvPr/>
        </p:nvSpPr>
        <p:spPr>
          <a:xfrm>
            <a:off x="8330184" y="4956048"/>
            <a:ext cx="2926080" cy="868680"/>
          </a:xfrm>
          <a:prstGeom prst="rect">
            <a:avLst/>
          </a:prstGeom>
          <a:noFill/>
        </p:spPr>
        <p:txBody>
          <a:bodyPr wrap="square" anchor="t" lIns="0" rIns="0" tIns="0" bIns="0">
            <a:spAutoFit/>
          </a:bodyPr>
          <a:lstStyle/>
          <a:p>
            <a:pPr algn="l">
              <a:lnSpc>
                <a:spcPct val="122000"/>
              </a:lnSpc>
              <a:spcAft>
                <a:spcPts val="600"/>
              </a:spcAft>
            </a:pPr>
            <a:r>
              <a:rPr sz="1200" b="0" i="0">
                <a:solidFill>
                  <a:srgbClr val="636569"/>
                </a:solidFill>
                <a:latin typeface="Arial"/>
              </a:rPr>
              <a:t>How long it keeps saving. Feeds the lifetime figures on Results.</a:t>
            </a:r>
          </a:p>
        </p:txBody>
      </p:sp>
      <p:sp>
        <p:nvSpPr>
          <p:cNvPr id="15" name="TextBox 14"/>
          <p:cNvSpPr txBox="1"/>
          <p:nvPr/>
        </p:nvSpPr>
        <p:spPr>
          <a:xfrm>
            <a:off x="685800" y="6172200"/>
            <a:ext cx="10817352" cy="411480"/>
          </a:xfrm>
          <a:prstGeom prst="rect">
            <a:avLst/>
          </a:prstGeom>
          <a:noFill/>
        </p:spPr>
        <p:txBody>
          <a:bodyPr wrap="square" anchor="t" lIns="0" rIns="0" tIns="0" bIns="0">
            <a:spAutoFit/>
          </a:bodyPr>
          <a:lstStyle/>
          <a:p>
            <a:pPr algn="ctr">
              <a:spcAft>
                <a:spcPts val="600"/>
              </a:spcAft>
            </a:pPr>
            <a:r>
              <a:rPr sz="1400" b="1" i="0">
                <a:solidFill>
                  <a:srgbClr val="1B2126"/>
                </a:solidFill>
                <a:latin typeface="Arial"/>
              </a:rPr>
              <a:t>“Incremental” is the word that matters — not the whole valve package.</a:t>
            </a:r>
          </a:p>
        </p:txBody>
      </p:sp>
      <p:sp>
        <p:nvSpPr>
          <p:cNvPr id="16" name="TextBox 15"/>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126"/>
        </a:solidFill>
        <a:effectLst/>
      </p:bgPr>
    </p:bg>
    <p:spTree>
      <p:nvGrpSpPr>
        <p:cNvPr id="1" name=""/>
        <p:cNvGrpSpPr/>
        <p:nvPr/>
      </p:nvGrpSpPr>
      <p:grpSpPr/>
      <p:sp>
        <p:nvSpPr>
          <p:cNvPr id="2" name="Oval 1"/>
          <p:cNvSpPr/>
          <p:nvPr/>
        </p:nvSpPr>
        <p:spPr>
          <a:xfrm>
            <a:off x="685800" y="22860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Arial"/>
              </a:rPr>
              <a:t>2</a:t>
            </a:r>
          </a:p>
        </p:txBody>
      </p:sp>
      <p:sp>
        <p:nvSpPr>
          <p:cNvPr id="3" name="TextBox 2"/>
          <p:cNvSpPr txBox="1"/>
          <p:nvPr/>
        </p:nvSpPr>
        <p:spPr>
          <a:xfrm>
            <a:off x="685800" y="3520440"/>
            <a:ext cx="8595360" cy="731520"/>
          </a:xfrm>
          <a:prstGeom prst="rect">
            <a:avLst/>
          </a:prstGeom>
          <a:noFill/>
        </p:spPr>
        <p:txBody>
          <a:bodyPr wrap="square" anchor="t" lIns="0" rIns="0" tIns="0" bIns="0">
            <a:spAutoFit/>
          </a:bodyPr>
          <a:lstStyle/>
          <a:p>
            <a:pPr algn="l">
              <a:spcAft>
                <a:spcPts val="600"/>
              </a:spcAft>
            </a:pPr>
            <a:r>
              <a:rPr sz="3600" b="1" i="0">
                <a:solidFill>
                  <a:srgbClr val="FFFFFF"/>
                </a:solidFill>
                <a:latin typeface="Arial"/>
              </a:rPr>
              <a:t>What the engine does</a:t>
            </a:r>
          </a:p>
        </p:txBody>
      </p:sp>
      <p:sp>
        <p:nvSpPr>
          <p:cNvPr id="4" name="TextBox 3"/>
          <p:cNvSpPr txBox="1"/>
          <p:nvPr/>
        </p:nvSpPr>
        <p:spPr>
          <a:xfrm>
            <a:off x="685800" y="4343400"/>
            <a:ext cx="7863840" cy="822960"/>
          </a:xfrm>
          <a:prstGeom prst="rect">
            <a:avLst/>
          </a:prstGeom>
          <a:noFill/>
        </p:spPr>
        <p:txBody>
          <a:bodyPr wrap="square" anchor="t" lIns="0" rIns="0" tIns="0" bIns="0">
            <a:spAutoFit/>
          </a:bodyPr>
          <a:lstStyle/>
          <a:p>
            <a:pPr algn="l">
              <a:spcAft>
                <a:spcPts val="600"/>
              </a:spcAft>
            </a:pPr>
            <a:r>
              <a:rPr sz="1500" b="0" i="0">
                <a:solidFill>
                  <a:srgbClr val="C4C7C9"/>
                </a:solidFill>
                <a:latin typeface="Arial"/>
              </a:rPr>
              <a:t>You never edit it, but you should be able to explain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Pump Savings tab</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One calculation block per Delta-T.</a:t>
            </a:r>
          </a:p>
        </p:txBody>
      </p:sp>
      <p:sp>
        <p:nvSpPr>
          <p:cNvPr id="4" name="Rectangle 3"/>
          <p:cNvSpPr/>
          <p:nvPr/>
        </p:nvSpPr>
        <p:spPr>
          <a:xfrm>
            <a:off x="630936" y="2339275"/>
            <a:ext cx="6876288" cy="2819528"/>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pumpsavings_top.png"/>
          <p:cNvPicPr>
            <a:picLocks noChangeAspect="1"/>
          </p:cNvPicPr>
          <p:nvPr/>
        </p:nvPicPr>
        <p:blipFill>
          <a:blip r:embed="rId2"/>
          <a:stretch>
            <a:fillRect/>
          </a:stretch>
        </p:blipFill>
        <p:spPr>
          <a:xfrm>
            <a:off x="685800" y="2394139"/>
            <a:ext cx="6766560" cy="2709800"/>
          </a:xfrm>
          <a:prstGeom prst="rect">
            <a:avLst/>
          </a:prstGeom>
        </p:spPr>
      </p:pic>
      <p:sp>
        <p:nvSpPr>
          <p:cNvPr id="6" name="TextBox 5"/>
          <p:cNvSpPr txBox="1"/>
          <p:nvPr/>
        </p:nvSpPr>
        <p:spPr>
          <a:xfrm>
            <a:off x="7772400" y="1828800"/>
            <a:ext cx="3749039" cy="365760"/>
          </a:xfrm>
          <a:prstGeom prst="rect">
            <a:avLst/>
          </a:prstGeom>
          <a:noFill/>
        </p:spPr>
        <p:txBody>
          <a:bodyPr wrap="square" anchor="t" lIns="0" rIns="0" tIns="0" bIns="0">
            <a:spAutoFit/>
          </a:bodyPr>
          <a:lstStyle/>
          <a:p>
            <a:pPr algn="l">
              <a:spcAft>
                <a:spcPts val="600"/>
              </a:spcAft>
            </a:pPr>
            <a:r>
              <a:rPr sz="1700" b="1" i="0">
                <a:solidFill>
                  <a:srgbClr val="1B2126"/>
                </a:solidFill>
                <a:latin typeface="Arial"/>
              </a:rPr>
              <a:t>How a block reads</a:t>
            </a:r>
          </a:p>
        </p:txBody>
      </p:sp>
      <p:sp>
        <p:nvSpPr>
          <p:cNvPr id="7" name="TextBox 6"/>
          <p:cNvSpPr txBox="1"/>
          <p:nvPr/>
        </p:nvSpPr>
        <p:spPr>
          <a:xfrm>
            <a:off x="7772400" y="2286000"/>
            <a:ext cx="3749039" cy="1417320"/>
          </a:xfrm>
          <a:prstGeom prst="rect">
            <a:avLst/>
          </a:prstGeom>
          <a:noFill/>
        </p:spPr>
        <p:txBody>
          <a:bodyPr wrap="square" anchor="t" lIns="0" rIns="0" tIns="0" bIns="0">
            <a:spAutoFit/>
          </a:bodyPr>
          <a:lstStyle/>
          <a:p>
            <a:pPr algn="l">
              <a:lnSpc>
                <a:spcPct val="125000"/>
              </a:lnSpc>
              <a:spcAft>
                <a:spcPts val="600"/>
              </a:spcAft>
            </a:pPr>
            <a:r>
              <a:rPr sz="1250" b="0" i="0">
                <a:solidFill>
                  <a:srgbClr val="636569"/>
                </a:solidFill>
                <a:latin typeface="Arial"/>
              </a:rPr>
              <a:t>For each of the four load points it works out the flow needed at that Delta-T, the head the pump sees at that flow, the resulting power, and — from the hours in that bin — the energy and the cost.</a:t>
            </a:r>
          </a:p>
        </p:txBody>
      </p:sp>
      <p:sp>
        <p:nvSpPr>
          <p:cNvPr id="8" name="Rounded Rectangle 7"/>
          <p:cNvSpPr/>
          <p:nvPr/>
        </p:nvSpPr>
        <p:spPr>
          <a:xfrm>
            <a:off x="7772400" y="3840480"/>
            <a:ext cx="3730752" cy="1371600"/>
          </a:xfrm>
          <a:prstGeom prst="roundRect">
            <a:avLst>
              <a:gd name="adj" fmla="val 6000"/>
            </a:avLst>
          </a:prstGeom>
          <a:solidFill>
            <a:srgbClr val="EA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28431" y="4059936"/>
            <a:ext cx="3246120" cy="1005840"/>
          </a:xfrm>
          <a:prstGeom prst="rect">
            <a:avLst/>
          </a:prstGeom>
          <a:noFill/>
        </p:spPr>
        <p:txBody>
          <a:bodyPr wrap="square" anchor="t" lIns="0" rIns="0" tIns="0" bIns="0">
            <a:spAutoFit/>
          </a:bodyPr>
          <a:lstStyle/>
          <a:p>
            <a:pPr algn="l">
              <a:lnSpc>
                <a:spcPct val="125000"/>
              </a:lnSpc>
              <a:spcAft>
                <a:spcPts val="600"/>
              </a:spcAft>
            </a:pPr>
            <a:r>
              <a:rPr sz="1250" b="1" i="0">
                <a:solidFill>
                  <a:srgbClr val="1B2126"/>
                </a:solidFill>
                <a:latin typeface="Arial"/>
              </a:rPr>
              <a:t>One editable cell: </a:t>
            </a:r>
            <a:r>
              <a:rPr sz="1250" b="0" i="0">
                <a:solidFill>
                  <a:srgbClr val="636569"/>
                </a:solidFill>
                <a:latin typeface="Arial"/>
              </a:rPr>
              <a:t>the Pump Design Factor. It is how much bigger the pump is than the coil needs. Leave it unless you know the real oversizing.</a:t>
            </a:r>
          </a:p>
        </p:txBody>
      </p:sp>
      <p:sp>
        <p:nvSpPr>
          <p:cNvPr id="10" name="TextBox 9"/>
          <p:cNvSpPr txBox="1"/>
          <p:nvPr/>
        </p:nvSpPr>
        <p:spPr>
          <a:xfrm>
            <a:off x="7772400" y="5440680"/>
            <a:ext cx="3749039" cy="457200"/>
          </a:xfrm>
          <a:prstGeom prst="rect">
            <a:avLst/>
          </a:prstGeom>
          <a:noFill/>
        </p:spPr>
        <p:txBody>
          <a:bodyPr wrap="square" anchor="t" lIns="0" rIns="0" tIns="0" bIns="0">
            <a:spAutoFit/>
          </a:bodyPr>
          <a:lstStyle/>
          <a:p>
            <a:pPr algn="l">
              <a:lnSpc>
                <a:spcPct val="120000"/>
              </a:lnSpc>
              <a:spcAft>
                <a:spcPts val="600"/>
              </a:spcAft>
            </a:pPr>
            <a:r>
              <a:rPr sz="1250" b="0" i="0">
                <a:solidFill>
                  <a:srgbClr val="636569"/>
                </a:solidFill>
                <a:latin typeface="Arial"/>
              </a:rPr>
              <a:t>Add the four rows and you have that Delta-T's annual pumping bill.</a:t>
            </a:r>
          </a:p>
        </p:txBody>
      </p:sp>
      <p:sp>
        <p:nvSpPr>
          <p:cNvPr id="11" name="TextBox 10"/>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It also picks the valve</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Matched to the design flow you entered in Step 2.</a:t>
            </a:r>
          </a:p>
        </p:txBody>
      </p:sp>
      <p:sp>
        <p:nvSpPr>
          <p:cNvPr id="4" name="Rectangle 3"/>
          <p:cNvSpPr/>
          <p:nvPr/>
        </p:nvSpPr>
        <p:spPr>
          <a:xfrm>
            <a:off x="630936" y="2590714"/>
            <a:ext cx="5230368" cy="2316651"/>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pumpsavings_valves.png"/>
          <p:cNvPicPr>
            <a:picLocks noChangeAspect="1"/>
          </p:cNvPicPr>
          <p:nvPr/>
        </p:nvPicPr>
        <p:blipFill>
          <a:blip r:embed="rId2"/>
          <a:stretch>
            <a:fillRect/>
          </a:stretch>
        </p:blipFill>
        <p:spPr>
          <a:xfrm>
            <a:off x="685800" y="2645578"/>
            <a:ext cx="5120640" cy="2206923"/>
          </a:xfrm>
          <a:prstGeom prst="rect">
            <a:avLst/>
          </a:prstGeom>
        </p:spPr>
      </p:pic>
      <p:sp>
        <p:nvSpPr>
          <p:cNvPr id="6" name="TextBox 5"/>
          <p:cNvSpPr txBox="1"/>
          <p:nvPr/>
        </p:nvSpPr>
        <p:spPr>
          <a:xfrm>
            <a:off x="6309360" y="1920240"/>
            <a:ext cx="5212080" cy="411480"/>
          </a:xfrm>
          <a:prstGeom prst="rect">
            <a:avLst/>
          </a:prstGeom>
          <a:noFill/>
        </p:spPr>
        <p:txBody>
          <a:bodyPr wrap="square" anchor="t" lIns="0" rIns="0" tIns="0" bIns="0">
            <a:spAutoFit/>
          </a:bodyPr>
          <a:lstStyle/>
          <a:p>
            <a:pPr algn="l">
              <a:lnSpc>
                <a:spcPct val="130000"/>
              </a:lnSpc>
              <a:spcAft>
                <a:spcPts val="600"/>
              </a:spcAft>
            </a:pPr>
            <a:r>
              <a:rPr sz="1500" b="0" i="0">
                <a:solidFill>
                  <a:srgbClr val="636569"/>
                </a:solidFill>
                <a:latin typeface="Arial"/>
              </a:rPr>
              <a:t>The tool reads your design flow, finds the Energy Valve model whose capacity covers it, and shows that model with its flow range.</a:t>
            </a:r>
          </a:p>
        </p:txBody>
      </p:sp>
      <p:sp>
        <p:nvSpPr>
          <p:cNvPr id="7" name="Rounded Rectangle 6"/>
          <p:cNvSpPr/>
          <p:nvPr/>
        </p:nvSpPr>
        <p:spPr>
          <a:xfrm>
            <a:off x="6309360" y="3200400"/>
            <a:ext cx="5193792" cy="1371600"/>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0" y="3429000"/>
            <a:ext cx="4663440" cy="1005840"/>
          </a:xfrm>
          <a:prstGeom prst="rect">
            <a:avLst/>
          </a:prstGeom>
          <a:noFill/>
        </p:spPr>
        <p:txBody>
          <a:bodyPr wrap="square" anchor="t" lIns="0" rIns="0" tIns="0" bIns="0">
            <a:spAutoFit/>
          </a:bodyPr>
          <a:lstStyle/>
          <a:p>
            <a:pPr algn="l">
              <a:lnSpc>
                <a:spcPct val="125000"/>
              </a:lnSpc>
              <a:spcAft>
                <a:spcPts val="600"/>
              </a:spcAft>
            </a:pPr>
            <a:r>
              <a:rPr sz="1300" b="1" i="0">
                <a:solidFill>
                  <a:srgbClr val="1B2126"/>
                </a:solidFill>
                <a:latin typeface="Arial"/>
              </a:rPr>
              <a:t>The range follows your unit setting. </a:t>
            </a:r>
            <a:r>
              <a:rPr sz="1300" b="0" i="0">
                <a:solidFill>
                  <a:srgbClr val="636569"/>
                </a:solidFill>
                <a:latin typeface="Arial"/>
              </a:rPr>
              <a:t>Switch to Metric and the capacities are shown in litres per minute instead of gallons.</a:t>
            </a:r>
          </a:p>
        </p:txBody>
      </p:sp>
      <p:sp>
        <p:nvSpPr>
          <p:cNvPr id="9" name="TextBox 8"/>
          <p:cNvSpPr txBox="1"/>
          <p:nvPr/>
        </p:nvSpPr>
        <p:spPr>
          <a:xfrm>
            <a:off x="6309360" y="4800600"/>
            <a:ext cx="5193792" cy="822960"/>
          </a:xfrm>
          <a:prstGeom prst="rect">
            <a:avLst/>
          </a:prstGeom>
          <a:noFill/>
        </p:spPr>
        <p:txBody>
          <a:bodyPr wrap="square" anchor="t" lIns="0" rIns="0" tIns="0" bIns="0">
            <a:spAutoFit/>
          </a:bodyPr>
          <a:lstStyle/>
          <a:p>
            <a:pPr algn="l">
              <a:lnSpc>
                <a:spcPct val="125000"/>
              </a:lnSpc>
              <a:spcAft>
                <a:spcPts val="600"/>
              </a:spcAft>
            </a:pPr>
            <a:r>
              <a:rPr sz="1300" b="0" i="0">
                <a:solidFill>
                  <a:srgbClr val="636569"/>
                </a:solidFill>
                <a:latin typeface="Arial"/>
              </a:rPr>
              <a:t>Useful in the room: it turns “an Energy Valve” into a specific model number you can quote against the coil in front of you.</a:t>
            </a:r>
          </a:p>
        </p:txBody>
      </p:sp>
      <p:sp>
        <p:nvSpPr>
          <p:cNvPr id="10" name="TextBox 9"/>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Flow Curves and Charts</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Reference material for the technical conversation.</a:t>
            </a:r>
          </a:p>
        </p:txBody>
      </p:sp>
      <p:sp>
        <p:nvSpPr>
          <p:cNvPr id="4" name="Rectangle 3"/>
          <p:cNvSpPr/>
          <p:nvPr/>
        </p:nvSpPr>
        <p:spPr>
          <a:xfrm>
            <a:off x="630936" y="1900626"/>
            <a:ext cx="5321808" cy="3788266"/>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flowcurves.png"/>
          <p:cNvPicPr>
            <a:picLocks noChangeAspect="1"/>
          </p:cNvPicPr>
          <p:nvPr/>
        </p:nvPicPr>
        <p:blipFill>
          <a:blip r:embed="rId2"/>
          <a:stretch>
            <a:fillRect/>
          </a:stretch>
        </p:blipFill>
        <p:spPr>
          <a:xfrm>
            <a:off x="685800" y="1955490"/>
            <a:ext cx="5212080" cy="3678538"/>
          </a:xfrm>
          <a:prstGeom prst="rect">
            <a:avLst/>
          </a:prstGeom>
        </p:spPr>
      </p:pic>
      <p:sp>
        <p:nvSpPr>
          <p:cNvPr id="6" name="Rectangle 5"/>
          <p:cNvSpPr/>
          <p:nvPr/>
        </p:nvSpPr>
        <p:spPr>
          <a:xfrm>
            <a:off x="6254496" y="2224738"/>
            <a:ext cx="5303520" cy="3140043"/>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charts.png"/>
          <p:cNvPicPr>
            <a:picLocks noChangeAspect="1"/>
          </p:cNvPicPr>
          <p:nvPr/>
        </p:nvPicPr>
        <p:blipFill>
          <a:blip r:embed="rId3"/>
          <a:stretch>
            <a:fillRect/>
          </a:stretch>
        </p:blipFill>
        <p:spPr>
          <a:xfrm>
            <a:off x="6309360" y="2279602"/>
            <a:ext cx="5193792" cy="3030315"/>
          </a:xfrm>
          <a:prstGeom prst="rect">
            <a:avLst/>
          </a:prstGeom>
        </p:spPr>
      </p:pic>
      <p:sp>
        <p:nvSpPr>
          <p:cNvPr id="8" name="TextBox 7"/>
          <p:cNvSpPr txBox="1"/>
          <p:nvPr/>
        </p:nvSpPr>
        <p:spPr>
          <a:xfrm>
            <a:off x="685800" y="5989320"/>
            <a:ext cx="10817352" cy="457200"/>
          </a:xfrm>
          <a:prstGeom prst="rect">
            <a:avLst/>
          </a:prstGeom>
          <a:noFill/>
        </p:spPr>
        <p:txBody>
          <a:bodyPr wrap="square" anchor="t" lIns="0" rIns="0" tIns="0" bIns="0">
            <a:spAutoFit/>
          </a:bodyPr>
          <a:lstStyle/>
          <a:p>
            <a:pPr algn="l">
              <a:spcAft>
                <a:spcPts val="600"/>
              </a:spcAft>
            </a:pPr>
            <a:r>
              <a:rPr sz="1400" b="1" i="0">
                <a:solidFill>
                  <a:srgbClr val="1B2126"/>
                </a:solidFill>
                <a:latin typeface="Arial"/>
              </a:rPr>
              <a:t>Nothing to fill in on either tab.</a:t>
            </a:r>
            <a:r>
              <a:rPr sz="1400" b="0" i="0">
                <a:solidFill>
                  <a:srgbClr val="636569"/>
                </a:solidFill>
                <a:latin typeface="Arial"/>
              </a:rPr>
              <a:t>  They show how a control signal maps to valve position and flow — useful when a controls contractor asks, but not part of the savings calculation.</a:t>
            </a:r>
          </a:p>
        </p:txBody>
      </p:sp>
      <p:sp>
        <p:nvSpPr>
          <p:cNvPr id="9" name="TextBox 8"/>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126"/>
        </a:solidFill>
        <a:effectLst/>
      </p:bgPr>
    </p:bg>
    <p:spTree>
      <p:nvGrpSpPr>
        <p:cNvPr id="1" name=""/>
        <p:cNvGrpSpPr/>
        <p:nvPr/>
      </p:nvGrpSpPr>
      <p:grpSpPr/>
      <p:sp>
        <p:nvSpPr>
          <p:cNvPr id="2" name="Oval 1"/>
          <p:cNvSpPr/>
          <p:nvPr/>
        </p:nvSpPr>
        <p:spPr>
          <a:xfrm>
            <a:off x="685800" y="22860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Arial"/>
              </a:rPr>
              <a:t>3</a:t>
            </a:r>
          </a:p>
        </p:txBody>
      </p:sp>
      <p:sp>
        <p:nvSpPr>
          <p:cNvPr id="3" name="TextBox 2"/>
          <p:cNvSpPr txBox="1"/>
          <p:nvPr/>
        </p:nvSpPr>
        <p:spPr>
          <a:xfrm>
            <a:off x="685800" y="3520440"/>
            <a:ext cx="8595360" cy="731520"/>
          </a:xfrm>
          <a:prstGeom prst="rect">
            <a:avLst/>
          </a:prstGeom>
          <a:noFill/>
        </p:spPr>
        <p:txBody>
          <a:bodyPr wrap="square" anchor="t" lIns="0" rIns="0" tIns="0" bIns="0">
            <a:spAutoFit/>
          </a:bodyPr>
          <a:lstStyle/>
          <a:p>
            <a:pPr algn="l">
              <a:spcAft>
                <a:spcPts val="600"/>
              </a:spcAft>
            </a:pPr>
            <a:r>
              <a:rPr sz="3600" b="1" i="0">
                <a:solidFill>
                  <a:srgbClr val="FFFFFF"/>
                </a:solidFill>
                <a:latin typeface="Arial"/>
              </a:rPr>
              <a:t>The financial results</a:t>
            </a:r>
          </a:p>
        </p:txBody>
      </p:sp>
      <p:sp>
        <p:nvSpPr>
          <p:cNvPr id="4" name="TextBox 3"/>
          <p:cNvSpPr txBox="1"/>
          <p:nvPr/>
        </p:nvSpPr>
        <p:spPr>
          <a:xfrm>
            <a:off x="685800" y="4343400"/>
            <a:ext cx="7863840" cy="822960"/>
          </a:xfrm>
          <a:prstGeom prst="rect">
            <a:avLst/>
          </a:prstGeom>
          <a:noFill/>
        </p:spPr>
        <p:txBody>
          <a:bodyPr wrap="square" anchor="t" lIns="0" rIns="0" tIns="0" bIns="0">
            <a:spAutoFit/>
          </a:bodyPr>
          <a:lstStyle/>
          <a:p>
            <a:pPr algn="l">
              <a:spcAft>
                <a:spcPts val="600"/>
              </a:spcAft>
            </a:pPr>
            <a:r>
              <a:rPr sz="1500" b="0" i="0">
                <a:solidFill>
                  <a:srgbClr val="C4C7C9"/>
                </a:solidFill>
                <a:latin typeface="Arial"/>
              </a:rPr>
              <a:t>Three numbers, four horizons — and the one people misread.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First, the idea behind all three</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Money later is worth less than money now.</a:t>
            </a:r>
          </a:p>
        </p:txBody>
      </p:sp>
      <p:sp>
        <p:nvSpPr>
          <p:cNvPr id="4" name="Rounded Rectangle 3"/>
          <p:cNvSpPr/>
          <p:nvPr/>
        </p:nvSpPr>
        <p:spPr>
          <a:xfrm>
            <a:off x="685800" y="1920240"/>
            <a:ext cx="5852160" cy="3017520"/>
          </a:xfrm>
          <a:prstGeom prst="roundRect">
            <a:avLst>
              <a:gd name="adj" fmla="val 6000"/>
            </a:avLst>
          </a:prstGeom>
          <a:solidFill>
            <a:srgbClr val="EA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51560" y="2240280"/>
            <a:ext cx="5212080" cy="457200"/>
          </a:xfrm>
          <a:prstGeom prst="rect">
            <a:avLst/>
          </a:prstGeom>
          <a:noFill/>
        </p:spPr>
        <p:txBody>
          <a:bodyPr wrap="square" anchor="t" lIns="0" rIns="0" tIns="0" bIns="0">
            <a:spAutoFit/>
          </a:bodyPr>
          <a:lstStyle/>
          <a:p>
            <a:pPr algn="l">
              <a:spcAft>
                <a:spcPts val="600"/>
              </a:spcAft>
            </a:pPr>
            <a:r>
              <a:rPr sz="1200" b="1" i="0">
                <a:solidFill>
                  <a:srgbClr val="3B7898"/>
                </a:solidFill>
                <a:latin typeface="Arial"/>
              </a:rPr>
              <a:t>PRESENT VALUE</a:t>
            </a:r>
          </a:p>
        </p:txBody>
      </p:sp>
      <p:sp>
        <p:nvSpPr>
          <p:cNvPr id="6" name="TextBox 5"/>
          <p:cNvSpPr txBox="1"/>
          <p:nvPr/>
        </p:nvSpPr>
        <p:spPr>
          <a:xfrm>
            <a:off x="1051560" y="2743200"/>
            <a:ext cx="5212080" cy="2011680"/>
          </a:xfrm>
          <a:prstGeom prst="rect">
            <a:avLst/>
          </a:prstGeom>
          <a:noFill/>
        </p:spPr>
        <p:txBody>
          <a:bodyPr wrap="square" anchor="t" lIns="0" rIns="0" tIns="0" bIns="0">
            <a:spAutoFit/>
          </a:bodyPr>
          <a:lstStyle/>
          <a:p>
            <a:pPr algn="l">
              <a:lnSpc>
                <a:spcPct val="130000"/>
              </a:lnSpc>
              <a:spcAft>
                <a:spcPts val="600"/>
              </a:spcAft>
            </a:pPr>
            <a:r>
              <a:rPr sz="1450" b="0" i="0">
                <a:solidFill>
                  <a:srgbClr val="1B2126"/>
                </a:solidFill>
                <a:latin typeface="Arial"/>
              </a:rPr>
              <a:t>A dollar saved in year eight is not worth a dollar today — you could have invested today's dollar in the meantime. Present value is what a future amount is worth now, once discounted back at the rate you set in Step 5.</a:t>
            </a:r>
          </a:p>
        </p:txBody>
      </p:sp>
      <p:sp>
        <p:nvSpPr>
          <p:cNvPr id="7" name="TextBox 6"/>
          <p:cNvSpPr txBox="1"/>
          <p:nvPr/>
        </p:nvSpPr>
        <p:spPr>
          <a:xfrm>
            <a:off x="6720840" y="1965960"/>
            <a:ext cx="4754880" cy="365760"/>
          </a:xfrm>
          <a:prstGeom prst="rect">
            <a:avLst/>
          </a:prstGeom>
          <a:noFill/>
        </p:spPr>
        <p:txBody>
          <a:bodyPr wrap="square" anchor="t" lIns="0" rIns="0" tIns="0" bIns="0">
            <a:spAutoFit/>
          </a:bodyPr>
          <a:lstStyle/>
          <a:p>
            <a:pPr algn="l">
              <a:spcAft>
                <a:spcPts val="600"/>
              </a:spcAft>
            </a:pPr>
            <a:r>
              <a:rPr sz="1800" b="1" i="0">
                <a:solidFill>
                  <a:srgbClr val="1B2126"/>
                </a:solidFill>
                <a:latin typeface="Arial"/>
              </a:rPr>
              <a:t>The discount rate is a lever</a:t>
            </a:r>
          </a:p>
        </p:txBody>
      </p:sp>
      <p:sp>
        <p:nvSpPr>
          <p:cNvPr id="8" name="TextBox 7"/>
          <p:cNvSpPr txBox="1"/>
          <p:nvPr/>
        </p:nvSpPr>
        <p:spPr>
          <a:xfrm>
            <a:off x="6720840" y="2450592"/>
            <a:ext cx="4754880" cy="1371600"/>
          </a:xfrm>
          <a:prstGeom prst="rect">
            <a:avLst/>
          </a:prstGeom>
          <a:noFill/>
        </p:spPr>
        <p:txBody>
          <a:bodyPr wrap="square" anchor="t" lIns="0" rIns="0" tIns="0" bIns="0">
            <a:spAutoFit/>
          </a:bodyPr>
          <a:lstStyle/>
          <a:p>
            <a:pPr algn="l">
              <a:lnSpc>
                <a:spcPct val="128000"/>
              </a:lnSpc>
              <a:spcAft>
                <a:spcPts val="600"/>
              </a:spcAft>
            </a:pPr>
            <a:r>
              <a:rPr sz="1350" b="0" i="0">
                <a:solidFill>
                  <a:srgbClr val="636569"/>
                </a:solidFill>
                <a:latin typeface="Arial"/>
              </a:rPr>
              <a:t>Raise it and future savings count for less, so the first two results below both get smaller. Lower it and they grow.</a:t>
            </a:r>
          </a:p>
        </p:txBody>
      </p:sp>
      <p:sp>
        <p:nvSpPr>
          <p:cNvPr id="9" name="Rounded Rectangle 8"/>
          <p:cNvSpPr/>
          <p:nvPr/>
        </p:nvSpPr>
        <p:spPr>
          <a:xfrm>
            <a:off x="6720840" y="3794760"/>
            <a:ext cx="4782312" cy="1143000"/>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95159" y="4023360"/>
            <a:ext cx="4251960" cy="777240"/>
          </a:xfrm>
          <a:prstGeom prst="rect">
            <a:avLst/>
          </a:prstGeom>
          <a:noFill/>
        </p:spPr>
        <p:txBody>
          <a:bodyPr wrap="square" anchor="t" lIns="0" rIns="0" tIns="0" bIns="0">
            <a:spAutoFit/>
          </a:bodyPr>
          <a:lstStyle/>
          <a:p>
            <a:pPr algn="l">
              <a:lnSpc>
                <a:spcPct val="125000"/>
              </a:lnSpc>
              <a:spcAft>
                <a:spcPts val="600"/>
              </a:spcAft>
            </a:pPr>
            <a:r>
              <a:rPr sz="1300" b="1" i="0">
                <a:solidFill>
                  <a:srgbClr val="1B2126"/>
                </a:solidFill>
                <a:latin typeface="Arial"/>
              </a:rPr>
              <a:t>It is not a fudge factor. </a:t>
            </a:r>
            <a:r>
              <a:rPr sz="1300" b="0" i="0">
                <a:solidFill>
                  <a:srgbClr val="636569"/>
                </a:solidFill>
                <a:latin typeface="Arial"/>
              </a:rPr>
              <a:t>Set it to what your organisation actually requires, and leave it there.</a:t>
            </a:r>
          </a:p>
        </p:txBody>
      </p:sp>
      <p:sp>
        <p:nvSpPr>
          <p:cNvPr id="11" name="TextBox 10"/>
          <p:cNvSpPr txBox="1"/>
          <p:nvPr/>
        </p:nvSpPr>
        <p:spPr>
          <a:xfrm>
            <a:off x="685800" y="5257800"/>
            <a:ext cx="10817352" cy="548640"/>
          </a:xfrm>
          <a:prstGeom prst="rect">
            <a:avLst/>
          </a:prstGeom>
          <a:noFill/>
        </p:spPr>
        <p:txBody>
          <a:bodyPr wrap="square" anchor="t" lIns="0" rIns="0" tIns="0" bIns="0">
            <a:spAutoFit/>
          </a:bodyPr>
          <a:lstStyle/>
          <a:p>
            <a:pPr algn="ctr">
              <a:spcAft>
                <a:spcPts val="600"/>
              </a:spcAft>
            </a:pPr>
            <a:r>
              <a:rPr sz="1400" b="0" i="0">
                <a:solidFill>
                  <a:srgbClr val="636569"/>
                </a:solidFill>
                <a:latin typeface="Arial"/>
              </a:rPr>
              <a:t>Everything on the next two slides is built on this one idea.</a:t>
            </a:r>
          </a:p>
        </p:txBody>
      </p:sp>
      <p:sp>
        <p:nvSpPr>
          <p:cNvPr id="12" name="TextBox 11"/>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The two discounted results</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Both answer “is this worth doing?” — in different units.</a:t>
            </a:r>
          </a:p>
        </p:txBody>
      </p:sp>
      <p:sp>
        <p:nvSpPr>
          <p:cNvPr id="4" name="Rounded Rectangle 3"/>
          <p:cNvSpPr/>
          <p:nvPr/>
        </p:nvSpPr>
        <p:spPr>
          <a:xfrm>
            <a:off x="685800" y="1783080"/>
            <a:ext cx="5285232" cy="3931920"/>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978408" y="2020824"/>
            <a:ext cx="4736592" cy="274320"/>
          </a:xfrm>
          <a:prstGeom prst="rect">
            <a:avLst/>
          </a:prstGeom>
          <a:noFill/>
        </p:spPr>
        <p:txBody>
          <a:bodyPr wrap="square" anchor="t" lIns="0" rIns="0" tIns="0" bIns="0">
            <a:spAutoFit/>
          </a:bodyPr>
          <a:lstStyle/>
          <a:p>
            <a:pPr algn="l">
              <a:spcAft>
                <a:spcPts val="600"/>
              </a:spcAft>
            </a:pPr>
            <a:r>
              <a:rPr sz="1100" b="1" i="0">
                <a:solidFill>
                  <a:srgbClr val="FF6600"/>
                </a:solidFill>
                <a:latin typeface="Arial"/>
              </a:rPr>
              <a:t>RESULT 1</a:t>
            </a:r>
          </a:p>
        </p:txBody>
      </p:sp>
      <p:sp>
        <p:nvSpPr>
          <p:cNvPr id="6" name="TextBox 5"/>
          <p:cNvSpPr txBox="1"/>
          <p:nvPr/>
        </p:nvSpPr>
        <p:spPr>
          <a:xfrm>
            <a:off x="978408" y="2331720"/>
            <a:ext cx="4736592" cy="402336"/>
          </a:xfrm>
          <a:prstGeom prst="rect">
            <a:avLst/>
          </a:prstGeom>
          <a:noFill/>
        </p:spPr>
        <p:txBody>
          <a:bodyPr wrap="square" anchor="t" lIns="0" rIns="0" tIns="0" bIns="0">
            <a:spAutoFit/>
          </a:bodyPr>
          <a:lstStyle/>
          <a:p>
            <a:pPr algn="l">
              <a:spcAft>
                <a:spcPts val="600"/>
              </a:spcAft>
            </a:pPr>
            <a:r>
              <a:rPr sz="1900" b="1" i="0">
                <a:solidFill>
                  <a:srgbClr val="1B2126"/>
                </a:solidFill>
                <a:latin typeface="Arial"/>
              </a:rPr>
              <a:t>Net Present Value (NPV)</a:t>
            </a:r>
          </a:p>
        </p:txBody>
      </p:sp>
      <p:sp>
        <p:nvSpPr>
          <p:cNvPr id="7" name="TextBox 6"/>
          <p:cNvSpPr txBox="1"/>
          <p:nvPr/>
        </p:nvSpPr>
        <p:spPr>
          <a:xfrm>
            <a:off x="978408" y="2843784"/>
            <a:ext cx="4736592" cy="2148839"/>
          </a:xfrm>
          <a:prstGeom prst="rect">
            <a:avLst/>
          </a:prstGeom>
          <a:noFill/>
        </p:spPr>
        <p:txBody>
          <a:bodyPr wrap="square" anchor="t" lIns="0" rIns="0" tIns="0" bIns="0">
            <a:spAutoFit/>
          </a:bodyPr>
          <a:lstStyle/>
          <a:p>
            <a:pPr algn="l">
              <a:lnSpc>
                <a:spcPct val="128000"/>
              </a:lnSpc>
              <a:spcAft>
                <a:spcPts val="600"/>
              </a:spcAft>
            </a:pPr>
            <a:r>
              <a:rPr sz="1300" b="0" i="0">
                <a:solidFill>
                  <a:srgbClr val="636569"/>
                </a:solidFill>
                <a:latin typeface="Arial"/>
              </a:rPr>
              <a:t>Every year's saving discounted back to today, added up, minus what you spent on day one. What is left is the value the project adds, in today's dollars. Below zero does not mean it loses money — it means it does not clear the return you demanded.</a:t>
            </a:r>
          </a:p>
        </p:txBody>
      </p:sp>
      <p:sp>
        <p:nvSpPr>
          <p:cNvPr id="8" name="TextBox 7"/>
          <p:cNvSpPr txBox="1"/>
          <p:nvPr/>
        </p:nvSpPr>
        <p:spPr>
          <a:xfrm>
            <a:off x="978408" y="4965192"/>
            <a:ext cx="4736592" cy="594360"/>
          </a:xfrm>
          <a:prstGeom prst="rect">
            <a:avLst/>
          </a:prstGeom>
          <a:noFill/>
        </p:spPr>
        <p:txBody>
          <a:bodyPr wrap="square" anchor="t" lIns="0" rIns="0" tIns="0" bIns="0">
            <a:spAutoFit/>
          </a:bodyPr>
          <a:lstStyle/>
          <a:p>
            <a:pPr algn="l">
              <a:lnSpc>
                <a:spcPct val="120000"/>
              </a:lnSpc>
              <a:spcAft>
                <a:spcPts val="600"/>
              </a:spcAft>
            </a:pPr>
            <a:r>
              <a:rPr sz="1150" b="0" i="0">
                <a:solidFill>
                  <a:srgbClr val="1B2126"/>
                </a:solidFill>
                <a:latin typeface="Arial"/>
              </a:rPr>
              <a:t>Above zero → worth doing.   Below zero → not at this discount rate.</a:t>
            </a:r>
          </a:p>
        </p:txBody>
      </p:sp>
      <p:sp>
        <p:nvSpPr>
          <p:cNvPr id="9" name="Rounded Rectangle 8"/>
          <p:cNvSpPr/>
          <p:nvPr/>
        </p:nvSpPr>
        <p:spPr>
          <a:xfrm>
            <a:off x="6217920" y="1783080"/>
            <a:ext cx="5285232" cy="3931920"/>
          </a:xfrm>
          <a:prstGeom prst="roundRect">
            <a:avLst>
              <a:gd name="adj" fmla="val 6000"/>
            </a:avLst>
          </a:prstGeom>
          <a:solidFill>
            <a:srgbClr val="EA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10528" y="2020824"/>
            <a:ext cx="4736592" cy="274320"/>
          </a:xfrm>
          <a:prstGeom prst="rect">
            <a:avLst/>
          </a:prstGeom>
          <a:noFill/>
        </p:spPr>
        <p:txBody>
          <a:bodyPr wrap="square" anchor="t" lIns="0" rIns="0" tIns="0" bIns="0">
            <a:spAutoFit/>
          </a:bodyPr>
          <a:lstStyle/>
          <a:p>
            <a:pPr algn="l">
              <a:spcAft>
                <a:spcPts val="600"/>
              </a:spcAft>
            </a:pPr>
            <a:r>
              <a:rPr sz="1100" b="1" i="0">
                <a:solidFill>
                  <a:srgbClr val="FF6600"/>
                </a:solidFill>
                <a:latin typeface="Arial"/>
              </a:rPr>
              <a:t>RESULT 2</a:t>
            </a:r>
          </a:p>
        </p:txBody>
      </p:sp>
      <p:sp>
        <p:nvSpPr>
          <p:cNvPr id="11" name="TextBox 10"/>
          <p:cNvSpPr txBox="1"/>
          <p:nvPr/>
        </p:nvSpPr>
        <p:spPr>
          <a:xfrm>
            <a:off x="6510528" y="2331720"/>
            <a:ext cx="4736592" cy="402336"/>
          </a:xfrm>
          <a:prstGeom prst="rect">
            <a:avLst/>
          </a:prstGeom>
          <a:noFill/>
        </p:spPr>
        <p:txBody>
          <a:bodyPr wrap="square" anchor="t" lIns="0" rIns="0" tIns="0" bIns="0">
            <a:spAutoFit/>
          </a:bodyPr>
          <a:lstStyle/>
          <a:p>
            <a:pPr algn="l">
              <a:spcAft>
                <a:spcPts val="600"/>
              </a:spcAft>
            </a:pPr>
            <a:r>
              <a:rPr sz="1900" b="1" i="0">
                <a:solidFill>
                  <a:srgbClr val="1B2126"/>
                </a:solidFill>
                <a:latin typeface="Arial"/>
              </a:rPr>
              <a:t>Savings-Investment Ratio (SIR)</a:t>
            </a:r>
          </a:p>
        </p:txBody>
      </p:sp>
      <p:sp>
        <p:nvSpPr>
          <p:cNvPr id="12" name="TextBox 11"/>
          <p:cNvSpPr txBox="1"/>
          <p:nvPr/>
        </p:nvSpPr>
        <p:spPr>
          <a:xfrm>
            <a:off x="6510528" y="2843784"/>
            <a:ext cx="4736592" cy="2148839"/>
          </a:xfrm>
          <a:prstGeom prst="rect">
            <a:avLst/>
          </a:prstGeom>
          <a:noFill/>
        </p:spPr>
        <p:txBody>
          <a:bodyPr wrap="square" anchor="t" lIns="0" rIns="0" tIns="0" bIns="0">
            <a:spAutoFit/>
          </a:bodyPr>
          <a:lstStyle/>
          <a:p>
            <a:pPr algn="l">
              <a:lnSpc>
                <a:spcPct val="128000"/>
              </a:lnSpc>
              <a:spcAft>
                <a:spcPts val="600"/>
              </a:spcAft>
            </a:pPr>
            <a:r>
              <a:rPr sz="1300" b="0" i="0">
                <a:solidFill>
                  <a:srgbClr val="636569"/>
                </a:solidFill>
                <a:latin typeface="Arial"/>
              </a:rPr>
              <a:t>The present value of everything you get back, divided by what you put in. A ratio, so it compares projects of very different sizes fairly. A ratio of 1.9 means every dollar invested returns about $1.90 in today's money.</a:t>
            </a:r>
          </a:p>
        </p:txBody>
      </p:sp>
      <p:sp>
        <p:nvSpPr>
          <p:cNvPr id="13" name="TextBox 12"/>
          <p:cNvSpPr txBox="1"/>
          <p:nvPr/>
        </p:nvSpPr>
        <p:spPr>
          <a:xfrm>
            <a:off x="6510528" y="4965192"/>
            <a:ext cx="4736592" cy="594360"/>
          </a:xfrm>
          <a:prstGeom prst="rect">
            <a:avLst/>
          </a:prstGeom>
          <a:noFill/>
        </p:spPr>
        <p:txBody>
          <a:bodyPr wrap="square" anchor="t" lIns="0" rIns="0" tIns="0" bIns="0">
            <a:spAutoFit/>
          </a:bodyPr>
          <a:lstStyle/>
          <a:p>
            <a:pPr algn="l">
              <a:lnSpc>
                <a:spcPct val="120000"/>
              </a:lnSpc>
              <a:spcAft>
                <a:spcPts val="600"/>
              </a:spcAft>
            </a:pPr>
            <a:r>
              <a:rPr sz="1150" b="0" i="0">
                <a:solidFill>
                  <a:srgbClr val="1B2126"/>
                </a:solidFill>
                <a:latin typeface="Arial"/>
              </a:rPr>
              <a:t>Above 1.0 → returns more than it costs.</a:t>
            </a:r>
          </a:p>
        </p:txBody>
      </p:sp>
      <p:sp>
        <p:nvSpPr>
          <p:cNvPr id="14" name="TextBox 13"/>
          <p:cNvSpPr txBox="1"/>
          <p:nvPr/>
        </p:nvSpPr>
        <p:spPr>
          <a:xfrm>
            <a:off x="685800" y="5943600"/>
            <a:ext cx="10817352" cy="457200"/>
          </a:xfrm>
          <a:prstGeom prst="rect">
            <a:avLst/>
          </a:prstGeom>
          <a:noFill/>
        </p:spPr>
        <p:txBody>
          <a:bodyPr wrap="square" anchor="t" lIns="0" rIns="0" tIns="0" bIns="0">
            <a:spAutoFit/>
          </a:bodyPr>
          <a:lstStyle/>
          <a:p>
            <a:pPr algn="ctr">
              <a:spcAft>
                <a:spcPts val="600"/>
              </a:spcAft>
            </a:pPr>
            <a:r>
              <a:rPr sz="1400" b="0" i="0">
                <a:solidFill>
                  <a:srgbClr val="636569"/>
                </a:solidFill>
                <a:latin typeface="Arial"/>
              </a:rPr>
              <a:t>Utility and public-sector programmes often write a minimum Savings-Investment Ratio straight into their eligibility rules.</a:t>
            </a:r>
          </a:p>
        </p:txBody>
      </p:sp>
      <p:sp>
        <p:nvSpPr>
          <p:cNvPr id="15" name="TextBox 14"/>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Simple Payback — and who to quote what to</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The number everyone asks for first, and the one to follow it with.</a:t>
            </a:r>
          </a:p>
        </p:txBody>
      </p:sp>
      <p:sp>
        <p:nvSpPr>
          <p:cNvPr id="4" name="Rounded Rectangle 3"/>
          <p:cNvSpPr/>
          <p:nvPr/>
        </p:nvSpPr>
        <p:spPr>
          <a:xfrm>
            <a:off x="685800" y="1783080"/>
            <a:ext cx="5285232" cy="2880360"/>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978408" y="2020824"/>
            <a:ext cx="4736592" cy="274320"/>
          </a:xfrm>
          <a:prstGeom prst="rect">
            <a:avLst/>
          </a:prstGeom>
          <a:noFill/>
        </p:spPr>
        <p:txBody>
          <a:bodyPr wrap="square" anchor="t" lIns="0" rIns="0" tIns="0" bIns="0">
            <a:spAutoFit/>
          </a:bodyPr>
          <a:lstStyle/>
          <a:p>
            <a:pPr algn="l">
              <a:spcAft>
                <a:spcPts val="600"/>
              </a:spcAft>
            </a:pPr>
            <a:r>
              <a:rPr sz="1100" b="1" i="0">
                <a:solidFill>
                  <a:srgbClr val="FF6600"/>
                </a:solidFill>
                <a:latin typeface="Arial"/>
              </a:rPr>
              <a:t>RESULT 3</a:t>
            </a:r>
          </a:p>
        </p:txBody>
      </p:sp>
      <p:sp>
        <p:nvSpPr>
          <p:cNvPr id="6" name="TextBox 5"/>
          <p:cNvSpPr txBox="1"/>
          <p:nvPr/>
        </p:nvSpPr>
        <p:spPr>
          <a:xfrm>
            <a:off x="978408" y="2331720"/>
            <a:ext cx="4736592" cy="402336"/>
          </a:xfrm>
          <a:prstGeom prst="rect">
            <a:avLst/>
          </a:prstGeom>
          <a:noFill/>
        </p:spPr>
        <p:txBody>
          <a:bodyPr wrap="square" anchor="t" lIns="0" rIns="0" tIns="0" bIns="0">
            <a:spAutoFit/>
          </a:bodyPr>
          <a:lstStyle/>
          <a:p>
            <a:pPr algn="l">
              <a:spcAft>
                <a:spcPts val="600"/>
              </a:spcAft>
            </a:pPr>
            <a:r>
              <a:rPr sz="1900" b="1" i="0">
                <a:solidFill>
                  <a:srgbClr val="1B2126"/>
                </a:solidFill>
                <a:latin typeface="Arial"/>
              </a:rPr>
              <a:t>Simple Payback Period</a:t>
            </a:r>
          </a:p>
        </p:txBody>
      </p:sp>
      <p:sp>
        <p:nvSpPr>
          <p:cNvPr id="7" name="TextBox 6"/>
          <p:cNvSpPr txBox="1"/>
          <p:nvPr/>
        </p:nvSpPr>
        <p:spPr>
          <a:xfrm>
            <a:off x="978408" y="2843784"/>
            <a:ext cx="4736592" cy="1097280"/>
          </a:xfrm>
          <a:prstGeom prst="rect">
            <a:avLst/>
          </a:prstGeom>
          <a:noFill/>
        </p:spPr>
        <p:txBody>
          <a:bodyPr wrap="square" anchor="t" lIns="0" rIns="0" tIns="0" bIns="0">
            <a:spAutoFit/>
          </a:bodyPr>
          <a:lstStyle/>
          <a:p>
            <a:pPr algn="l">
              <a:lnSpc>
                <a:spcPct val="128000"/>
              </a:lnSpc>
              <a:spcAft>
                <a:spcPts val="600"/>
              </a:spcAft>
            </a:pPr>
            <a:r>
              <a:rPr sz="1300" b="0" i="0">
                <a:solidFill>
                  <a:srgbClr val="636569"/>
                </a:solidFill>
                <a:latin typeface="Arial"/>
              </a:rPr>
              <a:t>How long the savings take to repay the investment, ignoring the time value of money entirely. Easy to explain — and it undersells a long-lived measure, because it ignores everything that happens after payback.</a:t>
            </a:r>
          </a:p>
        </p:txBody>
      </p:sp>
      <p:sp>
        <p:nvSpPr>
          <p:cNvPr id="8" name="TextBox 7"/>
          <p:cNvSpPr txBox="1"/>
          <p:nvPr/>
        </p:nvSpPr>
        <p:spPr>
          <a:xfrm>
            <a:off x="978408" y="3913631"/>
            <a:ext cx="4736592" cy="594360"/>
          </a:xfrm>
          <a:prstGeom prst="rect">
            <a:avLst/>
          </a:prstGeom>
          <a:noFill/>
        </p:spPr>
        <p:txBody>
          <a:bodyPr wrap="square" anchor="t" lIns="0" rIns="0" tIns="0" bIns="0">
            <a:spAutoFit/>
          </a:bodyPr>
          <a:lstStyle/>
          <a:p>
            <a:pPr algn="l">
              <a:lnSpc>
                <a:spcPct val="120000"/>
              </a:lnSpc>
              <a:spcAft>
                <a:spcPts val="600"/>
              </a:spcAft>
            </a:pPr>
            <a:r>
              <a:rPr sz="1150" b="0" i="0">
                <a:solidFill>
                  <a:srgbClr val="1B2126"/>
                </a:solidFill>
                <a:latin typeface="Arial"/>
              </a:rPr>
              <a:t>Quote it because people ask — then show Net Present Value.</a:t>
            </a:r>
          </a:p>
        </p:txBody>
      </p:sp>
      <p:sp>
        <p:nvSpPr>
          <p:cNvPr id="9" name="Rounded Rectangle 8"/>
          <p:cNvSpPr/>
          <p:nvPr/>
        </p:nvSpPr>
        <p:spPr>
          <a:xfrm>
            <a:off x="6217920" y="1783080"/>
            <a:ext cx="5285232" cy="786384"/>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446520" y="1975104"/>
            <a:ext cx="402336" cy="402336"/>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1" name="TextBox 10"/>
          <p:cNvSpPr txBox="1"/>
          <p:nvPr/>
        </p:nvSpPr>
        <p:spPr>
          <a:xfrm>
            <a:off x="6995160" y="1911095"/>
            <a:ext cx="1920240" cy="548640"/>
          </a:xfrm>
          <a:prstGeom prst="rect">
            <a:avLst/>
          </a:prstGeom>
          <a:noFill/>
        </p:spPr>
        <p:txBody>
          <a:bodyPr wrap="square" anchor="ctr" lIns="0" rIns="0" tIns="0" bIns="0">
            <a:spAutoFit/>
          </a:bodyPr>
          <a:lstStyle/>
          <a:p>
            <a:pPr algn="l">
              <a:spcAft>
                <a:spcPts val="600"/>
              </a:spcAft>
            </a:pPr>
            <a:r>
              <a:rPr sz="1350" b="1" i="0">
                <a:solidFill>
                  <a:srgbClr val="1B2126"/>
                </a:solidFill>
                <a:latin typeface="Arial"/>
              </a:rPr>
              <a:t>Building owner</a:t>
            </a:r>
          </a:p>
        </p:txBody>
      </p:sp>
      <p:sp>
        <p:nvSpPr>
          <p:cNvPr id="12" name="TextBox 11"/>
          <p:cNvSpPr txBox="1"/>
          <p:nvPr/>
        </p:nvSpPr>
        <p:spPr>
          <a:xfrm>
            <a:off x="8915400" y="1911095"/>
            <a:ext cx="2423160" cy="548640"/>
          </a:xfrm>
          <a:prstGeom prst="rect">
            <a:avLst/>
          </a:prstGeom>
          <a:noFill/>
        </p:spPr>
        <p:txBody>
          <a:bodyPr wrap="square" anchor="ctr" lIns="0" rIns="0" tIns="0" bIns="0">
            <a:spAutoFit/>
          </a:bodyPr>
          <a:lstStyle/>
          <a:p>
            <a:pPr algn="l">
              <a:spcAft>
                <a:spcPts val="600"/>
              </a:spcAft>
            </a:pPr>
            <a:r>
              <a:rPr sz="1250" b="1" i="0">
                <a:solidFill>
                  <a:srgbClr val="FF6600"/>
                </a:solidFill>
                <a:latin typeface="Arial"/>
              </a:rPr>
              <a:t>Simple Payback, then Net Present Value</a:t>
            </a:r>
          </a:p>
        </p:txBody>
      </p:sp>
      <p:sp>
        <p:nvSpPr>
          <p:cNvPr id="13" name="Rounded Rectangle 12"/>
          <p:cNvSpPr/>
          <p:nvPr/>
        </p:nvSpPr>
        <p:spPr>
          <a:xfrm>
            <a:off x="6217920" y="2715768"/>
            <a:ext cx="5285232" cy="786384"/>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446520" y="2907791"/>
            <a:ext cx="402336" cy="402336"/>
          </a:xfrm>
          <a:prstGeom prst="ellipse">
            <a:avLst/>
          </a:prstGeom>
          <a:solidFill>
            <a:srgbClr val="3B78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5" name="TextBox 14"/>
          <p:cNvSpPr txBox="1"/>
          <p:nvPr/>
        </p:nvSpPr>
        <p:spPr>
          <a:xfrm>
            <a:off x="6995160" y="2843784"/>
            <a:ext cx="1920240" cy="548640"/>
          </a:xfrm>
          <a:prstGeom prst="rect">
            <a:avLst/>
          </a:prstGeom>
          <a:noFill/>
        </p:spPr>
        <p:txBody>
          <a:bodyPr wrap="square" anchor="ctr" lIns="0" rIns="0" tIns="0" bIns="0">
            <a:spAutoFit/>
          </a:bodyPr>
          <a:lstStyle/>
          <a:p>
            <a:pPr algn="l">
              <a:spcAft>
                <a:spcPts val="600"/>
              </a:spcAft>
            </a:pPr>
            <a:r>
              <a:rPr sz="1350" b="1" i="0">
                <a:solidFill>
                  <a:srgbClr val="1B2126"/>
                </a:solidFill>
                <a:latin typeface="Arial"/>
              </a:rPr>
              <a:t>Finance department</a:t>
            </a:r>
          </a:p>
        </p:txBody>
      </p:sp>
      <p:sp>
        <p:nvSpPr>
          <p:cNvPr id="16" name="TextBox 15"/>
          <p:cNvSpPr txBox="1"/>
          <p:nvPr/>
        </p:nvSpPr>
        <p:spPr>
          <a:xfrm>
            <a:off x="8915400" y="2843784"/>
            <a:ext cx="2423160" cy="548640"/>
          </a:xfrm>
          <a:prstGeom prst="rect">
            <a:avLst/>
          </a:prstGeom>
          <a:noFill/>
        </p:spPr>
        <p:txBody>
          <a:bodyPr wrap="square" anchor="ctr" lIns="0" rIns="0" tIns="0" bIns="0">
            <a:spAutoFit/>
          </a:bodyPr>
          <a:lstStyle/>
          <a:p>
            <a:pPr algn="l">
              <a:spcAft>
                <a:spcPts val="600"/>
              </a:spcAft>
            </a:pPr>
            <a:r>
              <a:rPr sz="1250" b="1" i="0">
                <a:solidFill>
                  <a:srgbClr val="3B7898"/>
                </a:solidFill>
                <a:latin typeface="Arial"/>
              </a:rPr>
              <a:t>Net Present Value</a:t>
            </a:r>
          </a:p>
        </p:txBody>
      </p:sp>
      <p:sp>
        <p:nvSpPr>
          <p:cNvPr id="17" name="Rounded Rectangle 16"/>
          <p:cNvSpPr/>
          <p:nvPr/>
        </p:nvSpPr>
        <p:spPr>
          <a:xfrm>
            <a:off x="6217920" y="3648456"/>
            <a:ext cx="5285232" cy="786384"/>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46520" y="3840480"/>
            <a:ext cx="402336" cy="402336"/>
          </a:xfrm>
          <a:prstGeom prst="ellipse">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9" name="TextBox 18"/>
          <p:cNvSpPr txBox="1"/>
          <p:nvPr/>
        </p:nvSpPr>
        <p:spPr>
          <a:xfrm>
            <a:off x="6995160" y="3776472"/>
            <a:ext cx="1920240" cy="548640"/>
          </a:xfrm>
          <a:prstGeom prst="rect">
            <a:avLst/>
          </a:prstGeom>
          <a:noFill/>
        </p:spPr>
        <p:txBody>
          <a:bodyPr wrap="square" anchor="ctr" lIns="0" rIns="0" tIns="0" bIns="0">
            <a:spAutoFit/>
          </a:bodyPr>
          <a:lstStyle/>
          <a:p>
            <a:pPr algn="l">
              <a:spcAft>
                <a:spcPts val="600"/>
              </a:spcAft>
            </a:pPr>
            <a:r>
              <a:rPr sz="1350" b="1" i="0">
                <a:solidFill>
                  <a:srgbClr val="1B2126"/>
                </a:solidFill>
                <a:latin typeface="Arial"/>
              </a:rPr>
              <a:t>Utility programme</a:t>
            </a:r>
          </a:p>
        </p:txBody>
      </p:sp>
      <p:sp>
        <p:nvSpPr>
          <p:cNvPr id="20" name="TextBox 19"/>
          <p:cNvSpPr txBox="1"/>
          <p:nvPr/>
        </p:nvSpPr>
        <p:spPr>
          <a:xfrm>
            <a:off x="8915400" y="3776472"/>
            <a:ext cx="2423160" cy="548640"/>
          </a:xfrm>
          <a:prstGeom prst="rect">
            <a:avLst/>
          </a:prstGeom>
          <a:noFill/>
        </p:spPr>
        <p:txBody>
          <a:bodyPr wrap="square" anchor="ctr" lIns="0" rIns="0" tIns="0" bIns="0">
            <a:spAutoFit/>
          </a:bodyPr>
          <a:lstStyle/>
          <a:p>
            <a:pPr algn="l">
              <a:spcAft>
                <a:spcPts val="600"/>
              </a:spcAft>
            </a:pPr>
            <a:r>
              <a:rPr sz="1250" b="1" i="0">
                <a:solidFill>
                  <a:srgbClr val="4A7C59"/>
                </a:solidFill>
                <a:latin typeface="Arial"/>
              </a:rPr>
              <a:t>Savings-Investment Ratio</a:t>
            </a:r>
          </a:p>
        </p:txBody>
      </p:sp>
      <p:sp>
        <p:nvSpPr>
          <p:cNvPr id="21" name="Rounded Rectangle 20"/>
          <p:cNvSpPr/>
          <p:nvPr/>
        </p:nvSpPr>
        <p:spPr>
          <a:xfrm>
            <a:off x="685800" y="4983480"/>
            <a:ext cx="10817352" cy="1005840"/>
          </a:xfrm>
          <a:prstGeom prst="roundRect">
            <a:avLst>
              <a:gd name="adj" fmla="val 6000"/>
            </a:avLst>
          </a:prstGeom>
          <a:solidFill>
            <a:srgbClr val="1B21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05840" y="5202936"/>
            <a:ext cx="10195560" cy="640080"/>
          </a:xfrm>
          <a:prstGeom prst="rect">
            <a:avLst/>
          </a:prstGeom>
          <a:noFill/>
        </p:spPr>
        <p:txBody>
          <a:bodyPr wrap="square" anchor="t" lIns="0" rIns="0" tIns="0" bIns="0">
            <a:spAutoFit/>
          </a:bodyPr>
          <a:lstStyle/>
          <a:p>
            <a:pPr algn="l">
              <a:lnSpc>
                <a:spcPct val="122000"/>
              </a:lnSpc>
              <a:spcAft>
                <a:spcPts val="600"/>
              </a:spcAft>
            </a:pPr>
            <a:r>
              <a:rPr sz="1400" b="1" i="0">
                <a:solidFill>
                  <a:srgbClr val="FF6600"/>
                </a:solidFill>
                <a:latin typeface="Arial"/>
              </a:rPr>
              <a:t>Always say which horizon you are quoting. </a:t>
            </a:r>
            <a:r>
              <a:rPr sz="1400" b="0" i="0">
                <a:solidFill>
                  <a:srgbClr val="FFFFFF"/>
                </a:solidFill>
                <a:latin typeface="Arial"/>
              </a:rPr>
              <a:t>Every result is shown at 5, 10, 15 and 20 years. Short horizons look worse because the money goes out on day one while the savings accumulate.</a:t>
            </a:r>
          </a:p>
        </p:txBody>
      </p:sp>
      <p:sp>
        <p:nvSpPr>
          <p:cNvPr id="23" name="TextBox 22"/>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636569"/>
                </a:solidFill>
                <a:latin typeface="Arial"/>
              </a:rPr>
              <a:t>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126"/>
        </a:solidFill>
        <a:effectLst/>
      </p:bgPr>
    </p:bg>
    <p:spTree>
      <p:nvGrpSpPr>
        <p:cNvPr id="1" name=""/>
        <p:cNvGrpSpPr/>
        <p:nvPr/>
      </p:nvGrpSpPr>
      <p:grpSpPr/>
      <p:sp>
        <p:nvSpPr>
          <p:cNvPr id="2" name="Oval 1"/>
          <p:cNvSpPr/>
          <p:nvPr/>
        </p:nvSpPr>
        <p:spPr>
          <a:xfrm>
            <a:off x="685800" y="22860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Arial"/>
              </a:rPr>
              <a:t>4</a:t>
            </a:r>
          </a:p>
        </p:txBody>
      </p:sp>
      <p:sp>
        <p:nvSpPr>
          <p:cNvPr id="3" name="TextBox 2"/>
          <p:cNvSpPr txBox="1"/>
          <p:nvPr/>
        </p:nvSpPr>
        <p:spPr>
          <a:xfrm>
            <a:off x="685800" y="3520440"/>
            <a:ext cx="8595360" cy="731520"/>
          </a:xfrm>
          <a:prstGeom prst="rect">
            <a:avLst/>
          </a:prstGeom>
          <a:noFill/>
        </p:spPr>
        <p:txBody>
          <a:bodyPr wrap="square" anchor="t" lIns="0" rIns="0" tIns="0" bIns="0">
            <a:spAutoFit/>
          </a:bodyPr>
          <a:lstStyle/>
          <a:p>
            <a:pPr algn="l">
              <a:spcAft>
                <a:spcPts val="600"/>
              </a:spcAft>
            </a:pPr>
            <a:r>
              <a:rPr sz="3600" b="1" i="0">
                <a:solidFill>
                  <a:srgbClr val="FFFFFF"/>
                </a:solidFill>
                <a:latin typeface="Arial"/>
              </a:rPr>
              <a:t>Presenting it</a:t>
            </a:r>
          </a:p>
        </p:txBody>
      </p:sp>
      <p:sp>
        <p:nvSpPr>
          <p:cNvPr id="4" name="TextBox 3"/>
          <p:cNvSpPr txBox="1"/>
          <p:nvPr/>
        </p:nvSpPr>
        <p:spPr>
          <a:xfrm>
            <a:off x="685800" y="4343400"/>
            <a:ext cx="7863840" cy="822960"/>
          </a:xfrm>
          <a:prstGeom prst="rect">
            <a:avLst/>
          </a:prstGeom>
          <a:noFill/>
        </p:spPr>
        <p:txBody>
          <a:bodyPr wrap="square" anchor="t" lIns="0" rIns="0" tIns="0" bIns="0">
            <a:spAutoFit/>
          </a:bodyPr>
          <a:lstStyle/>
          <a:p>
            <a:pPr algn="l">
              <a:spcAft>
                <a:spcPts val="600"/>
              </a:spcAft>
            </a:pPr>
            <a:r>
              <a:rPr sz="1500" b="0" i="0">
                <a:solidFill>
                  <a:srgbClr val="C4C7C9"/>
                </a:solidFill>
                <a:latin typeface="Arial"/>
              </a:rPr>
              <a:t>One page, and a slider that answers the obvious question.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Results tab</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Nothing to fill in — this is the page you show.</a:t>
            </a:r>
          </a:p>
        </p:txBody>
      </p:sp>
      <p:sp>
        <p:nvSpPr>
          <p:cNvPr id="4" name="Rectangle 3"/>
          <p:cNvSpPr/>
          <p:nvPr/>
        </p:nvSpPr>
        <p:spPr>
          <a:xfrm>
            <a:off x="630936" y="1854254"/>
            <a:ext cx="6967728" cy="4063890"/>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results_compare.png"/>
          <p:cNvPicPr>
            <a:picLocks noChangeAspect="1"/>
          </p:cNvPicPr>
          <p:nvPr/>
        </p:nvPicPr>
        <p:blipFill>
          <a:blip r:embed="rId2"/>
          <a:stretch>
            <a:fillRect/>
          </a:stretch>
        </p:blipFill>
        <p:spPr>
          <a:xfrm>
            <a:off x="685800" y="1909118"/>
            <a:ext cx="6858000" cy="3954162"/>
          </a:xfrm>
          <a:prstGeom prst="rect">
            <a:avLst/>
          </a:prstGeom>
        </p:spPr>
      </p:pic>
      <p:sp>
        <p:nvSpPr>
          <p:cNvPr id="6" name="TextBox 5"/>
          <p:cNvSpPr txBox="1"/>
          <p:nvPr/>
        </p:nvSpPr>
        <p:spPr>
          <a:xfrm>
            <a:off x="7863840" y="1828800"/>
            <a:ext cx="3703320" cy="365760"/>
          </a:xfrm>
          <a:prstGeom prst="rect">
            <a:avLst/>
          </a:prstGeom>
          <a:noFill/>
        </p:spPr>
        <p:txBody>
          <a:bodyPr wrap="square" anchor="t" lIns="0" rIns="0" tIns="0" bIns="0">
            <a:spAutoFit/>
          </a:bodyPr>
          <a:lstStyle/>
          <a:p>
            <a:pPr algn="l">
              <a:spcAft>
                <a:spcPts val="600"/>
              </a:spcAft>
            </a:pPr>
            <a:r>
              <a:rPr sz="1700" b="1" i="0">
                <a:solidFill>
                  <a:srgbClr val="1B2126"/>
                </a:solidFill>
                <a:latin typeface="Arial"/>
              </a:rPr>
              <a:t>The slider</a:t>
            </a:r>
          </a:p>
        </p:txBody>
      </p:sp>
      <p:sp>
        <p:nvSpPr>
          <p:cNvPr id="7" name="TextBox 6"/>
          <p:cNvSpPr txBox="1"/>
          <p:nvPr/>
        </p:nvSpPr>
        <p:spPr>
          <a:xfrm>
            <a:off x="7863840" y="2286000"/>
            <a:ext cx="3703320" cy="1371600"/>
          </a:xfrm>
          <a:prstGeom prst="rect">
            <a:avLst/>
          </a:prstGeom>
          <a:noFill/>
        </p:spPr>
        <p:txBody>
          <a:bodyPr wrap="square" anchor="t" lIns="0" rIns="0" tIns="0" bIns="0">
            <a:spAutoFit/>
          </a:bodyPr>
          <a:lstStyle/>
          <a:p>
            <a:pPr algn="l">
              <a:lnSpc>
                <a:spcPct val="125000"/>
              </a:lnSpc>
              <a:spcAft>
                <a:spcPts val="600"/>
              </a:spcAft>
            </a:pPr>
            <a:r>
              <a:rPr sz="1250" b="0" i="0">
                <a:solidFill>
                  <a:srgbClr val="636569"/>
                </a:solidFill>
                <a:latin typeface="Arial"/>
              </a:rPr>
              <a:t>Set any “To” Delta-T and the savings line recalculates live. The “From” case stays pinned to the coil's actual Delta-T.</a:t>
            </a:r>
          </a:p>
        </p:txBody>
      </p:sp>
      <p:sp>
        <p:nvSpPr>
          <p:cNvPr id="8" name="Rounded Rectangle 7"/>
          <p:cNvSpPr/>
          <p:nvPr/>
        </p:nvSpPr>
        <p:spPr>
          <a:xfrm>
            <a:off x="7863840" y="3383280"/>
            <a:ext cx="3703320" cy="1371600"/>
          </a:xfrm>
          <a:prstGeom prst="roundRect">
            <a:avLst>
              <a:gd name="adj" fmla="val 6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119871" y="3611880"/>
            <a:ext cx="3200400" cy="1005840"/>
          </a:xfrm>
          <a:prstGeom prst="rect">
            <a:avLst/>
          </a:prstGeom>
          <a:noFill/>
        </p:spPr>
        <p:txBody>
          <a:bodyPr wrap="square" anchor="t" lIns="0" rIns="0" tIns="0" bIns="0">
            <a:spAutoFit/>
          </a:bodyPr>
          <a:lstStyle/>
          <a:p>
            <a:pPr algn="l">
              <a:lnSpc>
                <a:spcPct val="122000"/>
              </a:lnSpc>
              <a:spcAft>
                <a:spcPts val="600"/>
              </a:spcAft>
            </a:pPr>
            <a:r>
              <a:rPr sz="1250" b="1" i="0">
                <a:solidFill>
                  <a:srgbClr val="1B2126"/>
                </a:solidFill>
                <a:latin typeface="Arial"/>
              </a:rPr>
              <a:t>It answers “what if we only get halfway there?” live</a:t>
            </a:r>
            <a:r>
              <a:rPr sz="1250" b="0" i="0">
                <a:solidFill>
                  <a:srgbClr val="636569"/>
                </a:solidFill>
                <a:latin typeface="Arial"/>
              </a:rPr>
              <a:t> — far better than defending one optimistic number.</a:t>
            </a:r>
          </a:p>
        </p:txBody>
      </p:sp>
      <p:sp>
        <p:nvSpPr>
          <p:cNvPr id="10" name="TextBox 9"/>
          <p:cNvSpPr txBox="1"/>
          <p:nvPr/>
        </p:nvSpPr>
        <p:spPr>
          <a:xfrm>
            <a:off x="7863840" y="4937760"/>
            <a:ext cx="3703320" cy="914400"/>
          </a:xfrm>
          <a:prstGeom prst="rect">
            <a:avLst/>
          </a:prstGeom>
          <a:noFill/>
        </p:spPr>
        <p:txBody>
          <a:bodyPr wrap="square" anchor="t" lIns="0" rIns="0" tIns="0" bIns="0">
            <a:spAutoFit/>
          </a:bodyPr>
          <a:lstStyle/>
          <a:p>
            <a:pPr algn="l">
              <a:lnSpc>
                <a:spcPct val="125000"/>
              </a:lnSpc>
              <a:spcAft>
                <a:spcPts val="600"/>
              </a:spcAft>
            </a:pPr>
            <a:r>
              <a:rPr sz="1250" b="0" i="0">
                <a:solidFill>
                  <a:srgbClr val="636569"/>
                </a:solidFill>
                <a:latin typeface="Arial"/>
              </a:rPr>
              <a:t>Above it: the before-and-after comparison and the full Delta-T range, colour-graded from worst to best.</a:t>
            </a:r>
          </a:p>
        </p:txBody>
      </p:sp>
      <p:sp>
        <p:nvSpPr>
          <p:cNvPr id="11" name="TextBox 10"/>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Rebate support, ready to hand over</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Laid out the way incentive programmes ask for it.</a:t>
            </a:r>
          </a:p>
        </p:txBody>
      </p:sp>
      <p:sp>
        <p:nvSpPr>
          <p:cNvPr id="4" name="Rectangle 3"/>
          <p:cNvSpPr/>
          <p:nvPr/>
        </p:nvSpPr>
        <p:spPr>
          <a:xfrm>
            <a:off x="630936" y="2344894"/>
            <a:ext cx="5047488" cy="2991170"/>
          </a:xfrm>
          <a:prstGeom prst="rect">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results_rebate.png"/>
          <p:cNvPicPr>
            <a:picLocks noChangeAspect="1"/>
          </p:cNvPicPr>
          <p:nvPr/>
        </p:nvPicPr>
        <p:blipFill>
          <a:blip r:embed="rId2"/>
          <a:stretch>
            <a:fillRect/>
          </a:stretch>
        </p:blipFill>
        <p:spPr>
          <a:xfrm>
            <a:off x="685800" y="2399758"/>
            <a:ext cx="4937760" cy="2881442"/>
          </a:xfrm>
          <a:prstGeom prst="rect">
            <a:avLst/>
          </a:prstGeom>
        </p:spPr>
      </p:pic>
      <p:sp>
        <p:nvSpPr>
          <p:cNvPr id="6" name="TextBox 5"/>
          <p:cNvSpPr txBox="1"/>
          <p:nvPr/>
        </p:nvSpPr>
        <p:spPr>
          <a:xfrm>
            <a:off x="6126480" y="1828800"/>
            <a:ext cx="5394960" cy="292608"/>
          </a:xfrm>
          <a:prstGeom prst="rect">
            <a:avLst/>
          </a:prstGeom>
          <a:noFill/>
        </p:spPr>
        <p:txBody>
          <a:bodyPr wrap="square" anchor="t" lIns="0" rIns="0" tIns="0" bIns="0">
            <a:spAutoFit/>
          </a:bodyPr>
          <a:lstStyle/>
          <a:p>
            <a:pPr algn="l">
              <a:spcAft>
                <a:spcPts val="600"/>
              </a:spcAft>
            </a:pPr>
            <a:r>
              <a:rPr sz="1450" b="1" i="0">
                <a:solidFill>
                  <a:srgbClr val="1B2126"/>
                </a:solidFill>
                <a:latin typeface="Arial"/>
              </a:rPr>
              <a:t>Measure &amp; operating basis</a:t>
            </a:r>
          </a:p>
        </p:txBody>
      </p:sp>
      <p:sp>
        <p:nvSpPr>
          <p:cNvPr id="7" name="TextBox 6"/>
          <p:cNvSpPr txBox="1"/>
          <p:nvPr/>
        </p:nvSpPr>
        <p:spPr>
          <a:xfrm>
            <a:off x="6126480" y="2148840"/>
            <a:ext cx="5394960" cy="548640"/>
          </a:xfrm>
          <a:prstGeom prst="rect">
            <a:avLst/>
          </a:prstGeom>
          <a:noFill/>
        </p:spPr>
        <p:txBody>
          <a:bodyPr wrap="square" anchor="t" lIns="0" rIns="0" tIns="0" bIns="0">
            <a:spAutoFit/>
          </a:bodyPr>
          <a:lstStyle/>
          <a:p>
            <a:pPr algn="l">
              <a:lnSpc>
                <a:spcPct val="120000"/>
              </a:lnSpc>
              <a:spcAft>
                <a:spcPts val="600"/>
              </a:spcAft>
            </a:pPr>
            <a:r>
              <a:rPr sz="1250" b="0" i="0">
                <a:solidFill>
                  <a:srgbClr val="636569"/>
                </a:solidFill>
                <a:latin typeface="Arial"/>
              </a:rPr>
              <a:t>Baseline and post-retrofit Delta-T, coil count, annual hours.</a:t>
            </a:r>
          </a:p>
        </p:txBody>
      </p:sp>
      <p:sp>
        <p:nvSpPr>
          <p:cNvPr id="8" name="TextBox 7"/>
          <p:cNvSpPr txBox="1"/>
          <p:nvPr/>
        </p:nvSpPr>
        <p:spPr>
          <a:xfrm>
            <a:off x="6126480" y="2788920"/>
            <a:ext cx="5394960" cy="292608"/>
          </a:xfrm>
          <a:prstGeom prst="rect">
            <a:avLst/>
          </a:prstGeom>
          <a:noFill/>
        </p:spPr>
        <p:txBody>
          <a:bodyPr wrap="square" anchor="t" lIns="0" rIns="0" tIns="0" bIns="0">
            <a:spAutoFit/>
          </a:bodyPr>
          <a:lstStyle/>
          <a:p>
            <a:pPr algn="l">
              <a:spcAft>
                <a:spcPts val="600"/>
              </a:spcAft>
            </a:pPr>
            <a:r>
              <a:rPr sz="1450" b="1" i="0">
                <a:solidFill>
                  <a:srgbClr val="1B2126"/>
                </a:solidFill>
                <a:latin typeface="Arial"/>
              </a:rPr>
              <a:t>Energy &amp; demand savings</a:t>
            </a:r>
          </a:p>
        </p:txBody>
      </p:sp>
      <p:sp>
        <p:nvSpPr>
          <p:cNvPr id="9" name="TextBox 8"/>
          <p:cNvSpPr txBox="1"/>
          <p:nvPr/>
        </p:nvSpPr>
        <p:spPr>
          <a:xfrm>
            <a:off x="6126480" y="3108960"/>
            <a:ext cx="5394960" cy="548640"/>
          </a:xfrm>
          <a:prstGeom prst="rect">
            <a:avLst/>
          </a:prstGeom>
          <a:noFill/>
        </p:spPr>
        <p:txBody>
          <a:bodyPr wrap="square" anchor="t" lIns="0" rIns="0" tIns="0" bIns="0">
            <a:spAutoFit/>
          </a:bodyPr>
          <a:lstStyle/>
          <a:p>
            <a:pPr algn="l">
              <a:lnSpc>
                <a:spcPct val="120000"/>
              </a:lnSpc>
              <a:spcAft>
                <a:spcPts val="600"/>
              </a:spcAft>
            </a:pPr>
            <a:r>
              <a:rPr sz="1250" b="0" i="0">
                <a:solidFill>
                  <a:srgbClr val="636569"/>
                </a:solidFill>
                <a:latin typeface="Arial"/>
              </a:rPr>
              <a:t>Annual kilowatt-hours, demand reduction, cost saving, percentage reduction.</a:t>
            </a:r>
          </a:p>
        </p:txBody>
      </p:sp>
      <p:sp>
        <p:nvSpPr>
          <p:cNvPr id="10" name="TextBox 9"/>
          <p:cNvSpPr txBox="1"/>
          <p:nvPr/>
        </p:nvSpPr>
        <p:spPr>
          <a:xfrm>
            <a:off x="6126480" y="3749039"/>
            <a:ext cx="5394960" cy="292608"/>
          </a:xfrm>
          <a:prstGeom prst="rect">
            <a:avLst/>
          </a:prstGeom>
          <a:noFill/>
        </p:spPr>
        <p:txBody>
          <a:bodyPr wrap="square" anchor="t" lIns="0" rIns="0" tIns="0" bIns="0">
            <a:spAutoFit/>
          </a:bodyPr>
          <a:lstStyle/>
          <a:p>
            <a:pPr algn="l">
              <a:spcAft>
                <a:spcPts val="600"/>
              </a:spcAft>
            </a:pPr>
            <a:r>
              <a:rPr sz="1450" b="1" i="0">
                <a:solidFill>
                  <a:srgbClr val="1B2126"/>
                </a:solidFill>
                <a:latin typeface="Arial"/>
              </a:rPr>
              <a:t>Lifetime &amp; environmental</a:t>
            </a:r>
          </a:p>
        </p:txBody>
      </p:sp>
      <p:sp>
        <p:nvSpPr>
          <p:cNvPr id="11" name="TextBox 10"/>
          <p:cNvSpPr txBox="1"/>
          <p:nvPr/>
        </p:nvSpPr>
        <p:spPr>
          <a:xfrm>
            <a:off x="6126480" y="4069079"/>
            <a:ext cx="5394960" cy="548640"/>
          </a:xfrm>
          <a:prstGeom prst="rect">
            <a:avLst/>
          </a:prstGeom>
          <a:noFill/>
        </p:spPr>
        <p:txBody>
          <a:bodyPr wrap="square" anchor="t" lIns="0" rIns="0" tIns="0" bIns="0">
            <a:spAutoFit/>
          </a:bodyPr>
          <a:lstStyle/>
          <a:p>
            <a:pPr algn="l">
              <a:lnSpc>
                <a:spcPct val="120000"/>
              </a:lnSpc>
              <a:spcAft>
                <a:spcPts val="600"/>
              </a:spcAft>
            </a:pPr>
            <a:r>
              <a:rPr sz="1250" b="0" i="0">
                <a:solidFill>
                  <a:srgbClr val="636569"/>
                </a:solidFill>
                <a:latin typeface="Arial"/>
              </a:rPr>
              <a:t>Measure life, lifetime savings, water volume, carbon dioxide avoided.</a:t>
            </a:r>
          </a:p>
        </p:txBody>
      </p:sp>
      <p:sp>
        <p:nvSpPr>
          <p:cNvPr id="12" name="Rounded Rectangle 11"/>
          <p:cNvSpPr/>
          <p:nvPr/>
        </p:nvSpPr>
        <p:spPr>
          <a:xfrm>
            <a:off x="6126480" y="4846320"/>
            <a:ext cx="5376672" cy="1325880"/>
          </a:xfrm>
          <a:prstGeom prst="roundRect">
            <a:avLst>
              <a:gd name="adj" fmla="val 6000"/>
            </a:avLst>
          </a:prstGeom>
          <a:solidFill>
            <a:srgbClr val="1B21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0" y="5065776"/>
            <a:ext cx="4846320" cy="960120"/>
          </a:xfrm>
          <a:prstGeom prst="rect">
            <a:avLst/>
          </a:prstGeom>
          <a:noFill/>
        </p:spPr>
        <p:txBody>
          <a:bodyPr wrap="square" anchor="t" lIns="0" rIns="0" tIns="0" bIns="0">
            <a:spAutoFit/>
          </a:bodyPr>
          <a:lstStyle/>
          <a:p>
            <a:pPr algn="l">
              <a:lnSpc>
                <a:spcPct val="122000"/>
              </a:lnSpc>
              <a:spcAft>
                <a:spcPts val="600"/>
              </a:spcAft>
            </a:pPr>
            <a:r>
              <a:rPr sz="1250" b="1" i="0">
                <a:solidFill>
                  <a:srgbClr val="FF6600"/>
                </a:solidFill>
                <a:latin typeface="Arial"/>
              </a:rPr>
              <a:t>Two demand figures — do not swap them. </a:t>
            </a:r>
            <a:r>
              <a:rPr sz="1250" b="0" i="0">
                <a:solidFill>
                  <a:srgbClr val="FFFFFF"/>
                </a:solidFill>
                <a:latin typeface="Arial"/>
              </a:rPr>
              <a:t>Average is the annual saving over annual hours. Peak is the power difference at design. Rebate forms usually want peak.</a:t>
            </a:r>
          </a:p>
        </p:txBody>
      </p:sp>
      <p:sp>
        <p:nvSpPr>
          <p:cNvPr id="14" name="TextBox 13"/>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20095" cy="685800"/>
          </a:xfrm>
          <a:prstGeom prst="rect">
            <a:avLst/>
          </a:prstGeom>
          <a:noFill/>
        </p:spPr>
        <p:txBody>
          <a:bodyPr wrap="square" anchor="t" lIns="0" rIns="0" tIns="0" bIns="0">
            <a:spAutoFit/>
          </a:bodyPr>
          <a:lstStyle/>
          <a:p>
            <a:pPr algn="l">
              <a:spcAft>
                <a:spcPts val="600"/>
              </a:spcAft>
            </a:pPr>
            <a:r>
              <a:rPr sz="3200" b="1" i="0">
                <a:solidFill>
                  <a:srgbClr val="1B2126"/>
                </a:solidFill>
                <a:latin typeface="Arial"/>
              </a:rPr>
              <a:t>Five things that trip people up</a:t>
            </a:r>
          </a:p>
        </p:txBody>
      </p:sp>
      <p:sp>
        <p:nvSpPr>
          <p:cNvPr id="3" name="TextBox 2"/>
          <p:cNvSpPr txBox="1"/>
          <p:nvPr/>
        </p:nvSpPr>
        <p:spPr>
          <a:xfrm>
            <a:off x="685800" y="1207008"/>
            <a:ext cx="10820095" cy="384048"/>
          </a:xfrm>
          <a:prstGeom prst="rect">
            <a:avLst/>
          </a:prstGeom>
          <a:noFill/>
        </p:spPr>
        <p:txBody>
          <a:bodyPr wrap="square" anchor="t" lIns="0" rIns="0" tIns="0" bIns="0">
            <a:spAutoFit/>
          </a:bodyPr>
          <a:lstStyle/>
          <a:p>
            <a:pPr algn="l">
              <a:spcAft>
                <a:spcPts val="600"/>
              </a:spcAft>
            </a:pPr>
            <a:r>
              <a:rPr sz="1450" b="0" i="0">
                <a:solidFill>
                  <a:srgbClr val="636569"/>
                </a:solidFill>
                <a:latin typeface="Arial"/>
              </a:rPr>
              <a:t>Worth knowing before a customer asks.</a:t>
            </a:r>
          </a:p>
        </p:txBody>
      </p:sp>
      <p:sp>
        <p:nvSpPr>
          <p:cNvPr id="4" name="Rounded Rectangle 3"/>
          <p:cNvSpPr/>
          <p:nvPr/>
        </p:nvSpPr>
        <p:spPr>
          <a:xfrm>
            <a:off x="685800" y="1920240"/>
            <a:ext cx="10817352" cy="731520"/>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941832" y="2093976"/>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6" name="TextBox 5"/>
          <p:cNvSpPr txBox="1"/>
          <p:nvPr/>
        </p:nvSpPr>
        <p:spPr>
          <a:xfrm>
            <a:off x="1554480" y="2066544"/>
            <a:ext cx="4480560" cy="457200"/>
          </a:xfrm>
          <a:prstGeom prst="rect">
            <a:avLst/>
          </a:prstGeom>
          <a:noFill/>
        </p:spPr>
        <p:txBody>
          <a:bodyPr wrap="square" anchor="ctr" lIns="0" rIns="0" tIns="0" bIns="0">
            <a:spAutoFit/>
          </a:bodyPr>
          <a:lstStyle/>
          <a:p>
            <a:pPr algn="l">
              <a:spcAft>
                <a:spcPts val="600"/>
              </a:spcAft>
            </a:pPr>
            <a:r>
              <a:rPr sz="1400" b="1" i="0">
                <a:solidFill>
                  <a:srgbClr val="1B2126"/>
                </a:solidFill>
                <a:latin typeface="Arial"/>
              </a:rPr>
              <a:t>A cell will not accept typing</a:t>
            </a:r>
          </a:p>
        </p:txBody>
      </p:sp>
      <p:sp>
        <p:nvSpPr>
          <p:cNvPr id="7" name="TextBox 6"/>
          <p:cNvSpPr txBox="1"/>
          <p:nvPr/>
        </p:nvSpPr>
        <p:spPr>
          <a:xfrm>
            <a:off x="6217920" y="2066544"/>
            <a:ext cx="5074920" cy="457200"/>
          </a:xfrm>
          <a:prstGeom prst="rect">
            <a:avLst/>
          </a:prstGeom>
          <a:noFill/>
        </p:spPr>
        <p:txBody>
          <a:bodyPr wrap="square" anchor="ctr" lIns="0" rIns="0" tIns="0" bIns="0">
            <a:spAutoFit/>
          </a:bodyPr>
          <a:lstStyle/>
          <a:p>
            <a:pPr algn="l">
              <a:spcAft>
                <a:spcPts val="600"/>
              </a:spcAft>
            </a:pPr>
            <a:r>
              <a:rPr sz="1300" b="0" i="0">
                <a:solidFill>
                  <a:srgbClr val="636569"/>
                </a:solidFill>
                <a:latin typeface="Arial"/>
              </a:rPr>
              <a:t>It is a calculated result, not an input.</a:t>
            </a:r>
          </a:p>
        </p:txBody>
      </p:sp>
      <p:sp>
        <p:nvSpPr>
          <p:cNvPr id="8" name="Rounded Rectangle 7"/>
          <p:cNvSpPr/>
          <p:nvPr/>
        </p:nvSpPr>
        <p:spPr>
          <a:xfrm>
            <a:off x="685800" y="2788920"/>
            <a:ext cx="10817352" cy="731520"/>
          </a:xfrm>
          <a:prstGeom prst="roundRect">
            <a:avLst>
              <a:gd name="adj" fmla="val 6000"/>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941832" y="2962656"/>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0" name="TextBox 9"/>
          <p:cNvSpPr txBox="1"/>
          <p:nvPr/>
        </p:nvSpPr>
        <p:spPr>
          <a:xfrm>
            <a:off x="1554480" y="2935224"/>
            <a:ext cx="4480560" cy="457200"/>
          </a:xfrm>
          <a:prstGeom prst="rect">
            <a:avLst/>
          </a:prstGeom>
          <a:noFill/>
        </p:spPr>
        <p:txBody>
          <a:bodyPr wrap="square" anchor="ctr" lIns="0" rIns="0" tIns="0" bIns="0">
            <a:spAutoFit/>
          </a:bodyPr>
          <a:lstStyle/>
          <a:p>
            <a:pPr algn="l">
              <a:spcAft>
                <a:spcPts val="600"/>
              </a:spcAft>
            </a:pPr>
            <a:r>
              <a:rPr sz="1400" b="1" i="0">
                <a:solidFill>
                  <a:srgbClr val="1B2126"/>
                </a:solidFill>
                <a:latin typeface="Arial"/>
              </a:rPr>
              <a:t>Savings look implausibly large</a:t>
            </a:r>
          </a:p>
        </p:txBody>
      </p:sp>
      <p:sp>
        <p:nvSpPr>
          <p:cNvPr id="11" name="TextBox 10"/>
          <p:cNvSpPr txBox="1"/>
          <p:nvPr/>
        </p:nvSpPr>
        <p:spPr>
          <a:xfrm>
            <a:off x="6217920" y="2935224"/>
            <a:ext cx="5074920" cy="457200"/>
          </a:xfrm>
          <a:prstGeom prst="rect">
            <a:avLst/>
          </a:prstGeom>
          <a:noFill/>
        </p:spPr>
        <p:txBody>
          <a:bodyPr wrap="square" anchor="ctr" lIns="0" rIns="0" tIns="0" bIns="0">
            <a:spAutoFit/>
          </a:bodyPr>
          <a:lstStyle/>
          <a:p>
            <a:pPr algn="l">
              <a:spcAft>
                <a:spcPts val="600"/>
              </a:spcAft>
            </a:pPr>
            <a:r>
              <a:rPr sz="1300" b="0" i="0">
                <a:solidFill>
                  <a:srgbClr val="636569"/>
                </a:solidFill>
                <a:latin typeface="Arial"/>
              </a:rPr>
              <a:t>Check the Delta-T gap and the Pump Design Factor.</a:t>
            </a:r>
          </a:p>
        </p:txBody>
      </p:sp>
      <p:sp>
        <p:nvSpPr>
          <p:cNvPr id="12" name="Rounded Rectangle 11"/>
          <p:cNvSpPr/>
          <p:nvPr/>
        </p:nvSpPr>
        <p:spPr>
          <a:xfrm>
            <a:off x="685800" y="3657600"/>
            <a:ext cx="10817352" cy="731520"/>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941832" y="3831336"/>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4" name="TextBox 13"/>
          <p:cNvSpPr txBox="1"/>
          <p:nvPr/>
        </p:nvSpPr>
        <p:spPr>
          <a:xfrm>
            <a:off x="1554480" y="3803904"/>
            <a:ext cx="4480560" cy="457200"/>
          </a:xfrm>
          <a:prstGeom prst="rect">
            <a:avLst/>
          </a:prstGeom>
          <a:noFill/>
        </p:spPr>
        <p:txBody>
          <a:bodyPr wrap="square" anchor="ctr" lIns="0" rIns="0" tIns="0" bIns="0">
            <a:spAutoFit/>
          </a:bodyPr>
          <a:lstStyle/>
          <a:p>
            <a:pPr algn="l">
              <a:spcAft>
                <a:spcPts val="600"/>
              </a:spcAft>
            </a:pPr>
            <a:r>
              <a:rPr sz="1400" b="1" i="0">
                <a:solidFill>
                  <a:srgbClr val="1B2126"/>
                </a:solidFill>
                <a:latin typeface="Arial"/>
              </a:rPr>
              <a:t>The financial results look wrong</a:t>
            </a:r>
          </a:p>
        </p:txBody>
      </p:sp>
      <p:sp>
        <p:nvSpPr>
          <p:cNvPr id="15" name="TextBox 14"/>
          <p:cNvSpPr txBox="1"/>
          <p:nvPr/>
        </p:nvSpPr>
        <p:spPr>
          <a:xfrm>
            <a:off x="6217920" y="3803904"/>
            <a:ext cx="5074920" cy="457200"/>
          </a:xfrm>
          <a:prstGeom prst="rect">
            <a:avLst/>
          </a:prstGeom>
          <a:noFill/>
        </p:spPr>
        <p:txBody>
          <a:bodyPr wrap="square" anchor="ctr" lIns="0" rIns="0" tIns="0" bIns="0">
            <a:spAutoFit/>
          </a:bodyPr>
          <a:lstStyle/>
          <a:p>
            <a:pPr algn="l">
              <a:spcAft>
                <a:spcPts val="600"/>
              </a:spcAft>
            </a:pPr>
            <a:r>
              <a:rPr sz="1300" b="0" i="0">
                <a:solidFill>
                  <a:srgbClr val="636569"/>
                </a:solidFill>
                <a:latin typeface="Arial"/>
              </a:rPr>
              <a:t>Check the investment field holds the incremental valve cost.</a:t>
            </a:r>
          </a:p>
        </p:txBody>
      </p:sp>
      <p:sp>
        <p:nvSpPr>
          <p:cNvPr id="16" name="Rounded Rectangle 15"/>
          <p:cNvSpPr/>
          <p:nvPr/>
        </p:nvSpPr>
        <p:spPr>
          <a:xfrm>
            <a:off x="685800" y="4526279"/>
            <a:ext cx="10817352" cy="731520"/>
          </a:xfrm>
          <a:prstGeom prst="roundRect">
            <a:avLst>
              <a:gd name="adj" fmla="val 6000"/>
            </a:avLst>
          </a:prstGeom>
          <a:solidFill>
            <a:srgbClr val="FFFFFF"/>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941832" y="4700016"/>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18" name="TextBox 17"/>
          <p:cNvSpPr txBox="1"/>
          <p:nvPr/>
        </p:nvSpPr>
        <p:spPr>
          <a:xfrm>
            <a:off x="1554480" y="4672583"/>
            <a:ext cx="4480560" cy="457200"/>
          </a:xfrm>
          <a:prstGeom prst="rect">
            <a:avLst/>
          </a:prstGeom>
          <a:noFill/>
        </p:spPr>
        <p:txBody>
          <a:bodyPr wrap="square" anchor="ctr" lIns="0" rIns="0" tIns="0" bIns="0">
            <a:spAutoFit/>
          </a:bodyPr>
          <a:lstStyle/>
          <a:p>
            <a:pPr algn="l">
              <a:spcAft>
                <a:spcPts val="600"/>
              </a:spcAft>
            </a:pPr>
            <a:r>
              <a:rPr sz="1400" b="1" i="0">
                <a:solidFill>
                  <a:srgbClr val="1B2126"/>
                </a:solidFill>
                <a:latin typeface="Arial"/>
              </a:rPr>
              <a:t>A Delta-T entry is rejected</a:t>
            </a:r>
          </a:p>
        </p:txBody>
      </p:sp>
      <p:sp>
        <p:nvSpPr>
          <p:cNvPr id="19" name="TextBox 18"/>
          <p:cNvSpPr txBox="1"/>
          <p:nvPr/>
        </p:nvSpPr>
        <p:spPr>
          <a:xfrm>
            <a:off x="6217920" y="4672583"/>
            <a:ext cx="5074920" cy="457200"/>
          </a:xfrm>
          <a:prstGeom prst="rect">
            <a:avLst/>
          </a:prstGeom>
          <a:noFill/>
        </p:spPr>
        <p:txBody>
          <a:bodyPr wrap="square" anchor="ctr" lIns="0" rIns="0" tIns="0" bIns="0">
            <a:spAutoFit/>
          </a:bodyPr>
          <a:lstStyle/>
          <a:p>
            <a:pPr algn="l">
              <a:spcAft>
                <a:spcPts val="600"/>
              </a:spcAft>
            </a:pPr>
            <a:r>
              <a:rPr sz="1300" b="0" i="0">
                <a:solidFill>
                  <a:srgbClr val="636569"/>
                </a:solidFill>
                <a:latin typeface="Arial"/>
              </a:rPr>
              <a:t>The tool enforces a minimum gap between Actual and Future.</a:t>
            </a:r>
          </a:p>
        </p:txBody>
      </p:sp>
      <p:sp>
        <p:nvSpPr>
          <p:cNvPr id="20" name="Rounded Rectangle 19"/>
          <p:cNvSpPr/>
          <p:nvPr/>
        </p:nvSpPr>
        <p:spPr>
          <a:xfrm>
            <a:off x="685800" y="5394960"/>
            <a:ext cx="10817352" cy="731520"/>
          </a:xfrm>
          <a:prstGeom prst="roundRect">
            <a:avLst>
              <a:gd name="adj" fmla="val 6000"/>
            </a:avLst>
          </a:prstGeom>
          <a:solidFill>
            <a:srgbClr val="F7F9FA"/>
          </a:solidFill>
          <a:ln w="9525">
            <a:solidFill>
              <a:srgbClr val="C4C7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941832" y="5568696"/>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5</a:t>
            </a:r>
          </a:p>
        </p:txBody>
      </p:sp>
      <p:sp>
        <p:nvSpPr>
          <p:cNvPr id="22" name="TextBox 21"/>
          <p:cNvSpPr txBox="1"/>
          <p:nvPr/>
        </p:nvSpPr>
        <p:spPr>
          <a:xfrm>
            <a:off x="1554480" y="5541264"/>
            <a:ext cx="4480560" cy="457200"/>
          </a:xfrm>
          <a:prstGeom prst="rect">
            <a:avLst/>
          </a:prstGeom>
          <a:noFill/>
        </p:spPr>
        <p:txBody>
          <a:bodyPr wrap="square" anchor="ctr" lIns="0" rIns="0" tIns="0" bIns="0">
            <a:spAutoFit/>
          </a:bodyPr>
          <a:lstStyle/>
          <a:p>
            <a:pPr algn="l">
              <a:spcAft>
                <a:spcPts val="600"/>
              </a:spcAft>
            </a:pPr>
            <a:r>
              <a:rPr sz="1400" b="1" i="0">
                <a:solidFill>
                  <a:srgbClr val="1B2126"/>
                </a:solidFill>
                <a:latin typeface="Arial"/>
              </a:rPr>
              <a:t>Numbers did not change</a:t>
            </a:r>
          </a:p>
        </p:txBody>
      </p:sp>
      <p:sp>
        <p:nvSpPr>
          <p:cNvPr id="23" name="TextBox 22"/>
          <p:cNvSpPr txBox="1"/>
          <p:nvPr/>
        </p:nvSpPr>
        <p:spPr>
          <a:xfrm>
            <a:off x="6217920" y="5541264"/>
            <a:ext cx="5074920" cy="457200"/>
          </a:xfrm>
          <a:prstGeom prst="rect">
            <a:avLst/>
          </a:prstGeom>
          <a:noFill/>
        </p:spPr>
        <p:txBody>
          <a:bodyPr wrap="square" anchor="ctr" lIns="0" rIns="0" tIns="0" bIns="0">
            <a:spAutoFit/>
          </a:bodyPr>
          <a:lstStyle/>
          <a:p>
            <a:pPr algn="l">
              <a:spcAft>
                <a:spcPts val="600"/>
              </a:spcAft>
            </a:pPr>
            <a:r>
              <a:rPr sz="1300" b="0" i="0">
                <a:solidFill>
                  <a:srgbClr val="636569"/>
                </a:solidFill>
                <a:latin typeface="Arial"/>
              </a:rPr>
              <a:t>Click away to commit the entry, or press F9.</a:t>
            </a:r>
          </a:p>
        </p:txBody>
      </p:sp>
      <p:sp>
        <p:nvSpPr>
          <p:cNvPr id="24" name="TextBox 23"/>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C4C7C9"/>
                </a:solidFill>
                <a:latin typeface="Arial"/>
              </a:rPr>
              <a:t>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126"/>
        </a:solidFill>
        <a:effectLst/>
      </p:bgPr>
    </p:bg>
    <p:spTree>
      <p:nvGrpSpPr>
        <p:cNvPr id="1" name=""/>
        <p:cNvGrpSpPr/>
        <p:nvPr/>
      </p:nvGrpSpPr>
      <p:grpSpPr/>
      <p:sp>
        <p:nvSpPr>
          <p:cNvPr id="2" name="TextBox 1"/>
          <p:cNvSpPr txBox="1"/>
          <p:nvPr/>
        </p:nvSpPr>
        <p:spPr>
          <a:xfrm>
            <a:off x="685800" y="2103120"/>
            <a:ext cx="9601200" cy="822960"/>
          </a:xfrm>
          <a:prstGeom prst="rect">
            <a:avLst/>
          </a:prstGeom>
          <a:noFill/>
        </p:spPr>
        <p:txBody>
          <a:bodyPr wrap="square" anchor="t" lIns="0" rIns="0" tIns="0" bIns="0">
            <a:spAutoFit/>
          </a:bodyPr>
          <a:lstStyle/>
          <a:p>
            <a:pPr algn="l">
              <a:spcAft>
                <a:spcPts val="600"/>
              </a:spcAft>
            </a:pPr>
            <a:r>
              <a:rPr sz="4600" b="1" i="0">
                <a:solidFill>
                  <a:srgbClr val="FFFFFF"/>
                </a:solidFill>
                <a:latin typeface="Arial"/>
              </a:rPr>
              <a:t>Questions?</a:t>
            </a:r>
          </a:p>
        </p:txBody>
      </p:sp>
      <p:sp>
        <p:nvSpPr>
          <p:cNvPr id="3" name="TextBox 2"/>
          <p:cNvSpPr txBox="1"/>
          <p:nvPr/>
        </p:nvSpPr>
        <p:spPr>
          <a:xfrm>
            <a:off x="685800" y="3063240"/>
            <a:ext cx="8778240" cy="1097280"/>
          </a:xfrm>
          <a:prstGeom prst="rect">
            <a:avLst/>
          </a:prstGeom>
          <a:noFill/>
        </p:spPr>
        <p:txBody>
          <a:bodyPr wrap="square" anchor="t" lIns="0" rIns="0" tIns="0" bIns="0">
            <a:spAutoFit/>
          </a:bodyPr>
          <a:lstStyle/>
          <a:p>
            <a:pPr algn="l">
              <a:lnSpc>
                <a:spcPct val="130000"/>
              </a:lnSpc>
              <a:spcAft>
                <a:spcPts val="600"/>
              </a:spcAft>
            </a:pPr>
            <a:r>
              <a:rPr sz="1700" b="0" i="0">
                <a:solidFill>
                  <a:srgbClr val="C4C7C9"/>
                </a:solidFill>
                <a:latin typeface="Arial"/>
              </a:rPr>
              <a:t>The full field manual — every step, every field, with screenshots — is available as a PDF alongside the workbook.</a:t>
            </a:r>
          </a:p>
        </p:txBody>
      </p:sp>
      <p:sp>
        <p:nvSpPr>
          <p:cNvPr id="4" name="Oval 3"/>
          <p:cNvSpPr/>
          <p:nvPr/>
        </p:nvSpPr>
        <p:spPr>
          <a:xfrm>
            <a:off x="685800" y="4526280"/>
            <a:ext cx="82296" cy="82296"/>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4407408"/>
            <a:ext cx="7772400" cy="320040"/>
          </a:xfrm>
          <a:prstGeom prst="rect">
            <a:avLst/>
          </a:prstGeom>
          <a:noFill/>
        </p:spPr>
        <p:txBody>
          <a:bodyPr wrap="square" anchor="t" lIns="0" rIns="0" tIns="0" bIns="0">
            <a:spAutoFit/>
          </a:bodyPr>
          <a:lstStyle/>
          <a:p>
            <a:pPr algn="l">
              <a:spcAft>
                <a:spcPts val="600"/>
              </a:spcAft>
            </a:pPr>
            <a:r>
              <a:rPr sz="1500" b="1" i="0">
                <a:solidFill>
                  <a:srgbClr val="FFFFFF"/>
                </a:solidFill>
                <a:latin typeface="Arial"/>
              </a:rPr>
              <a:t>Rick Smith</a:t>
            </a:r>
            <a:r>
              <a:rPr sz="1500" b="0" i="0">
                <a:solidFill>
                  <a:srgbClr val="FF6600"/>
                </a:solidFill>
                <a:latin typeface="Arial"/>
              </a:rPr>
              <a:t>   ·   Rick.Smith@us.belimo.com</a:t>
            </a:r>
          </a:p>
        </p:txBody>
      </p:sp>
      <p:sp>
        <p:nvSpPr>
          <p:cNvPr id="6" name="TextBox 5"/>
          <p:cNvSpPr txBox="1"/>
          <p:nvPr/>
        </p:nvSpPr>
        <p:spPr>
          <a:xfrm>
            <a:off x="685800" y="4983480"/>
            <a:ext cx="8229600" cy="365760"/>
          </a:xfrm>
          <a:prstGeom prst="rect">
            <a:avLst/>
          </a:prstGeom>
          <a:noFill/>
        </p:spPr>
        <p:txBody>
          <a:bodyPr wrap="square" anchor="t" lIns="0" rIns="0" tIns="0" bIns="0">
            <a:spAutoFit/>
          </a:bodyPr>
          <a:lstStyle/>
          <a:p>
            <a:pPr algn="l">
              <a:spcAft>
                <a:spcPts val="600"/>
              </a:spcAft>
            </a:pPr>
            <a:r>
              <a:rPr sz="1300" b="0" i="0">
                <a:solidFill>
                  <a:srgbClr val="636569"/>
                </a:solidFill>
                <a:latin typeface="Arial"/>
              </a:rPr>
              <a:t>Team Lead Regional Applications Consultant  ·  maintains and enhances the tool</a:t>
            </a:r>
          </a:p>
        </p:txBody>
      </p:sp>
      <p:sp>
        <p:nvSpPr>
          <p:cNvPr id="7" name="TextBox 6"/>
          <p:cNvSpPr txBox="1"/>
          <p:nvPr/>
        </p:nvSpPr>
        <p:spPr>
          <a:xfrm>
            <a:off x="685800" y="6355080"/>
            <a:ext cx="10820095" cy="274320"/>
          </a:xfrm>
          <a:prstGeom prst="rect">
            <a:avLst/>
          </a:prstGeom>
          <a:noFill/>
        </p:spPr>
        <p:txBody>
          <a:bodyPr wrap="square" anchor="t" lIns="0" rIns="0" tIns="0" bIns="0">
            <a:spAutoFit/>
          </a:bodyPr>
          <a:lstStyle/>
          <a:p>
            <a:pPr algn="l">
              <a:spcAft>
                <a:spcPts val="600"/>
              </a:spcAft>
            </a:pPr>
            <a:r>
              <a:rPr sz="950" b="0" i="0">
                <a:solidFill>
                  <a:srgbClr val="636569"/>
                </a:solidFill>
                <a:latin typeface="Arial"/>
              </a:rPr>
              <a:t>Belimo Americas  ·  Energy Valve Coil Estimator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